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B57"/>
                </a:solidFill>
              </a:defRPr>
            </a:pPr>
            <a:r>
              <a:t>Multi-Agent RAG with an Adversarial Heterogeneous Verification Court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Making external-knowledge injection SAFE for clinical True/False question answering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Specialized judge agents + veto arbiter · adversarial retrieval · frozen generator · free APIs · no fine-tuning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3B57"/>
                </a:solidFill>
              </a:defRPr>
            </a:pPr>
            <a:r>
              <a:t>Motivation — Why a Verification Court?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B45F06"/>
                </a:solidFill>
              </a:defRPr>
            </a:pPr>
            <a:r>
              <a:t>• Clinical questions often need knowledge the local KB lacks → we must inject EXTERNAL evidence</a:t>
            </a:r>
          </a:p>
          <a:p>
            <a:pPr>
              <a:spcAft>
                <a:spcPts val="400"/>
              </a:spcAft>
              <a:defRPr sz="1500" b="0"/>
            </a:pPr>
            <a:r>
              <a:t>• But naive supplementation (search → append → generate) is unsafe on True/False:</a:t>
            </a:r>
          </a:p>
          <a:p>
            <a:pPr lvl="1">
              <a:spcAft>
                <a:spcPts val="400"/>
              </a:spcAft>
              <a:defRPr sz="1400" b="0"/>
            </a:pPr>
            <a:r>
              <a:t>     – Confirmation bias: search 'recovery' → the engine returns recovery content (false support)</a:t>
            </a:r>
          </a:p>
          <a:p>
            <a:pPr lvl="1">
              <a:spcAft>
                <a:spcPts val="400"/>
              </a:spcAft>
              <a:defRPr sz="1400" b="0"/>
            </a:pPr>
            <a:r>
              <a:t>     – Semantic drift: evidence about a broad class ('dementia') 'supports' a claim about a subtype ('Alzheimer's')</a:t>
            </a:r>
          </a:p>
          <a:p>
            <a:pPr lvl="1">
              <a:spcAft>
                <a:spcPts val="400"/>
              </a:spcAft>
              <a:defRPr sz="1400" b="0"/>
            </a:pPr>
            <a:r>
              <a:t>     – Modal swap: evidence says a rule 'helps'; the claim says one 'must' enforce it</a:t>
            </a:r>
          </a:p>
          <a:p>
            <a:pPr>
              <a:spcAft>
                <a:spcPts val="400"/>
              </a:spcAft>
              <a:defRPr sz="1500" b="1">
                <a:solidFill>
                  <a:srgbClr val="B45F06"/>
                </a:solidFill>
              </a:defRPr>
            </a:pPr>
            <a:r>
              <a:t>• Measured: naive external supplementation nets −4 to −5 on 120 TF (churn &gt; fixes)</a:t>
            </a:r>
          </a:p>
          <a:p>
            <a:pPr>
              <a:spcAft>
                <a:spcPts val="400"/>
              </a:spcAft>
              <a:defRPr sz="1500" b="1">
                <a:solidFill>
                  <a:srgbClr val="B45F06"/>
                </a:solidFill>
              </a:defRPr>
            </a:pPr>
            <a:r>
              <a:t>• Goal: a multi-agent architecture that makes external knowledge USABLE — inject facts without churn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3B57"/>
                </a:solidFill>
              </a:defRPr>
            </a:pPr>
            <a:r>
              <a:t>Architecture — Eight Agents over a Shared Blackboard</a:t>
            </a:r>
          </a:p>
        </p:txBody>
      </p:sp>
      <p:pic>
        <p:nvPicPr>
          <p:cNvPr id="3" name="Picture 2" descr="multiagent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75720" cy="64296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/>
            </a:pPr>
            <a:r>
              <a:t>• Orchestrator routes each question; TF answers are adversarially verified by a heterogeneous court before overriding the local baseline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3B57"/>
                </a:solidFill>
              </a:defRPr>
            </a:pPr>
            <a:r>
              <a:t>The Agents (1/2) — Function &amp; Implementation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389120"/>
                <a:gridCol w="4754880"/>
              </a:tblGrid>
              <a:tr h="8412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 principle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① Orchestrator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Classify TF/MC, route, coordinate, assemble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Deterministic Python while-loop over a Blackboard dataclass (no LangGraph/AutoGen) → transparent, ablatable control flow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② Query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Rewrite/decompose; build a pro/con query 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gpt-4o-mini; one prompt returns a SUPPORT query and a REFUTE query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③ Retrieval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Gather local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Hybrid BM25 (lexical) + dense bge-large (RRF) → KB-noise filter → bge-reranker-v2-m3 cross-encoder → smart-window expansion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④ Sufficiency Panel (ItV)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Decide if local context is enough → route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Identify-then-Verify: 5 independent LLM calls name the missing fact → semantic consensus (MiniLM) → attribution Verify. AUC 0.73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3B57"/>
                </a:solidFill>
              </a:defRPr>
            </a:pPr>
            <a:r>
              <a:t>The Agents (2/2) — Function &amp; Implementation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389120"/>
                <a:gridCol w="4754880"/>
              </a:tblGrid>
              <a:tr h="89611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 principle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⑤ Local-Completion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On insufficiency, re-search the LOCAL KB first (free)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Targeted gap query → hybrid re-retrieve → merge + rerank → re-evaluate; surfaces buried in-KB answers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⑥ Adversarial Web-Research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Fetch external evidence WITHOUT confirmation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Dual-personality: support-seeking + refutation-seeking queries. Backends: Exa (clean full-context web) + Europe PMC (medical abstracts, no key). Writes web_pro / web_con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⑦ Verification Court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Decide if external evidence may override the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Heterogeneous judges + veto arbiter (next slide) — the core defense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⑧ Answer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Produce the grounded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Frozen GPT-4, strict grounding, temp 0; emits the local-only baseline draft and the final answer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3B57"/>
                </a:solidFill>
              </a:defRPr>
            </a:pPr>
            <a:r>
              <a:t>Core Innovation — The Heterogeneous Verification Court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B45F06"/>
                </a:solidFill>
              </a:defRPr>
            </a:pPr>
            <a:r>
              <a:t>• Homogeneous voting (5 identical agents) lowers random noise but shares SYSTEMATIC blind spots → confident WRONG consensus. Instead, three SPECIALIST judges cross-examine + a veto Arbiter: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8600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389120"/>
                <a:gridCol w="466344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Judge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Blocks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Entity 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Ontology-boundary leakage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Single gpt-4 call: is the evidence's subject a broader class than the claim's subtype? → MISMATCH (class properties don't transfer to a subtype)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Modal 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Modal / degree swap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Single gpt-4 call, few-shot: obligation ('must / make them') vs benefit ('helps / may') → DOWNGRADE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Fact 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Random variance + weak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3-vote self-consistency (temp 0.4, majority) + medical-ontology rule (syndrome vs disease vs disorder); judges the OVERALL literature, not a single null study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Arbiter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False overrides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VETO — any MISMATCH / DOWNGRADE / NO-INFO → INSUFFICIENT → keep the baseline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212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B45F06"/>
                </a:solidFill>
              </a:defRPr>
            </a:pPr>
            <a:r>
              <a:t>• Division of labor: the Fact judge (majority vote) recovers genuine fixes; Entity/Modal vetoes block the concept/modal swaps a naive TRUE would churn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3B57"/>
                </a:solidFill>
              </a:defRPr>
            </a:pPr>
            <a:r>
              <a:t>Adversarial Retrieval &amp; the Shared Blackboard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B45F06"/>
                </a:solidFill>
              </a:defRPr>
            </a:pPr>
            <a:r>
              <a:t>• Adversarial Web-Research — dual pro/con queries defeat search confirmation bias</a:t>
            </a:r>
          </a:p>
          <a:p>
            <a:pPr lvl="1">
              <a:spcAft>
                <a:spcPts val="400"/>
              </a:spcAft>
              <a:defRPr sz="1400" b="0"/>
            </a:pPr>
            <a:r>
              <a:t>     – web_pro + web_con on the blackboard → the court judges amid conflicting evidence, not a one-sided echo</a:t>
            </a:r>
          </a:p>
          <a:p>
            <a:pPr lvl="1">
              <a:spcAft>
                <a:spcPts val="400"/>
              </a:spcAft>
              <a:defRPr sz="1400" b="0"/>
            </a:pPr>
            <a:r>
              <a:t>     – Free medical + general backends: Europe PMC (no key) surfaces authoritative abstracts; Exa returns clean, full-context web</a:t>
            </a:r>
          </a:p>
          <a:p>
            <a:pPr>
              <a:spcAft>
                <a:spcPts val="400"/>
              </a:spcAft>
              <a:defRPr sz="1500" b="1">
                <a:solidFill>
                  <a:srgbClr val="B45F06"/>
                </a:solidFill>
              </a:defRPr>
            </a:pPr>
            <a:r>
              <a:t>• Shared Blackboard (a plain dataclass — transparent &amp; ablatable)</a:t>
            </a:r>
          </a:p>
          <a:p>
            <a:pPr lvl="1">
              <a:spcAft>
                <a:spcPts val="400"/>
              </a:spcAft>
              <a:defRPr sz="1400" b="0"/>
            </a:pPr>
            <a:r>
              <a:t>     – question · queries · evidence{local, web_pro, web_con} · baseline_confidence · judge_flags{entity, modal, fact} · final · trace</a:t>
            </a:r>
          </a:p>
          <a:p>
            <a:pPr>
              <a:spcAft>
                <a:spcPts val="400"/>
              </a:spcAft>
              <a:defRPr sz="1500" b="1">
                <a:solidFill>
                  <a:srgbClr val="B45F06"/>
                </a:solidFill>
              </a:defRPr>
            </a:pPr>
            <a:r>
              <a:t>• Deterministic while-loop orchestration (no framework takeover)</a:t>
            </a:r>
          </a:p>
          <a:p>
            <a:pPr lvl="1">
              <a:spcAft>
                <a:spcPts val="400"/>
              </a:spcAft>
              <a:defRPr sz="1400" b="0"/>
            </a:pPr>
            <a:r>
              <a:t>     – Every gate is inspectable via the trace and ablatable — flip judge_flags.modal off, re-run, measure the delta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3B57"/>
                </a:solidFill>
              </a:defRPr>
            </a:pPr>
            <a:r>
              <a:t>Validation &amp;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45F06"/>
                </a:solidFill>
              </a:defRPr>
            </a:pPr>
            <a:r>
              <a:t>• The right baseline is NAIVE supplementation, not the frozen model:</a:t>
            </a:r>
          </a:p>
          <a:p>
            <a:pPr lvl="1">
              <a:spcAft>
                <a:spcPts val="400"/>
              </a:spcAft>
              <a:defRPr sz="1300" b="0"/>
            </a:pPr>
            <a:r>
              <a:t>     – Naive external supplementation: net −4 to −5 (churn)  →  with the Court: net ≈ 0 (churn eliminated)</a:t>
            </a:r>
          </a:p>
          <a:p>
            <a:pPr lvl="1">
              <a:spcAft>
                <a:spcPts val="400"/>
              </a:spcAft>
              <a:defRPr sz="1300" b="0"/>
            </a:pPr>
            <a:r>
              <a:t>     – The Court makes external-knowledge injection SAFE — the enabling contribution, independent of the raw score</a:t>
            </a:r>
          </a:p>
          <a:p>
            <a:pPr>
              <a:spcAft>
                <a:spcPts val="400"/>
              </a:spcAft>
              <a:defRPr sz="1400" b="1">
                <a:solidFill>
                  <a:srgbClr val="B45F06"/>
                </a:solidFill>
              </a:defRPr>
            </a:pPr>
            <a:r>
              <a:t>• Ablation of the defenses (120 TF): net −4 → −2</a:t>
            </a:r>
          </a:p>
          <a:p>
            <a:pPr lvl="1">
              <a:spcAft>
                <a:spcPts val="400"/>
              </a:spcAft>
              <a:defRPr sz="1300" b="0"/>
            </a:pPr>
            <a:r>
              <a:t>     – Medical-ontology rule fixed the syndrome-vs-disease case; 3-vote Fact judge removed variance-driven regressions</a:t>
            </a:r>
          </a:p>
          <a:p>
            <a:pPr>
              <a:spcAft>
                <a:spcPts val="400"/>
              </a:spcAft>
              <a:defRPr sz="1400" b="1">
                <a:solidFill>
                  <a:srgbClr val="B45F06"/>
                </a:solidFill>
              </a:defRPr>
            </a:pPr>
            <a:r>
              <a:t>• Qualitative finding — the system CORRECTED a benchmark error</a:t>
            </a:r>
          </a:p>
          <a:p>
            <a:pPr lvl="1">
              <a:spcAft>
                <a:spcPts val="400"/>
              </a:spcAft>
              <a:defRPr sz="1300" b="0"/>
            </a:pPr>
            <a:r>
              <a:t>     – It flagged '90% of communication is nonverbal' as a debunked urban legend (Exa found the refuting paper), disagreeing with the curriculum gold — high-quality RAG can correct legacy errors in evaluation benchmarks</a:t>
            </a:r>
          </a:p>
          <a:p>
            <a:pPr>
              <a:spcAft>
                <a:spcPts val="400"/>
              </a:spcAft>
              <a:defRPr sz="1400" b="1">
                <a:solidFill>
                  <a:srgbClr val="B45F06"/>
                </a:solidFill>
              </a:defRPr>
            </a:pPr>
            <a:r>
              <a:t>• Properties: frozen generator · free APIs (Exa / Europe PMC / PubMed) · no fine-tuning · every judge an ablatable module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