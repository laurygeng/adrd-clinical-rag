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69"/>
  </p:normalViewPr>
  <p:slideViewPr>
    <p:cSldViewPr snapToGrid="0" snapToObjects="1">
      <p:cViewPr>
        <p:scale>
          <a:sx n="98" d="100"/>
          <a:sy n="98" d="100"/>
        </p:scale>
        <p:origin x="64" y="5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1886" y="2037806"/>
            <a:ext cx="1046334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B57"/>
                </a:solidFill>
              </a:defRPr>
            </a:pPr>
            <a:r>
              <a:rPr dirty="0"/>
              <a:t>Multi-Agent RAG </a:t>
            </a:r>
            <a:r>
              <a:rPr lang="en-US" sz="3000" b="1" dirty="0"/>
              <a:t>with </a:t>
            </a:r>
            <a:r>
              <a:rPr lang="en-US" dirty="0"/>
              <a:t>adversarial</a:t>
            </a:r>
            <a:r>
              <a:rPr lang="en-US" sz="3000" b="1" dirty="0"/>
              <a:t> </a:t>
            </a:r>
            <a:r>
              <a:rPr lang="en-US" altLang="zh-CN" sz="3200" b="1" dirty="0">
                <a:solidFill>
                  <a:srgbClr val="1F3B57"/>
                </a:solidFill>
              </a:rPr>
              <a:t>Retrieval</a:t>
            </a:r>
            <a:r>
              <a:rPr lang="zh-CN" altLang="en-US" sz="3200" b="1" dirty="0">
                <a:solidFill>
                  <a:srgbClr val="1F3B57"/>
                </a:solidFill>
              </a:rPr>
              <a:t> </a:t>
            </a:r>
            <a:r>
              <a:rPr lang="en-US" altLang="zh-CN" sz="3200" b="1" dirty="0">
                <a:solidFill>
                  <a:srgbClr val="1F3B57"/>
                </a:solidFill>
              </a:rPr>
              <a:t>and</a:t>
            </a:r>
            <a:r>
              <a:rPr lang="zh-CN" altLang="en-US" sz="3200" b="1" dirty="0">
                <a:solidFill>
                  <a:srgbClr val="1F3B57"/>
                </a:solidFill>
              </a:rPr>
              <a:t> </a:t>
            </a:r>
            <a:r>
              <a:rPr lang="en-US" sz="3000" dirty="0"/>
              <a:t>Heterogeneous Verification</a:t>
            </a:r>
            <a:endParaRPr lang="en-US" dirty="0"/>
          </a:p>
          <a:p>
            <a:pPr>
              <a:defRPr sz="1700">
                <a:solidFill>
                  <a:srgbClr val="555555"/>
                </a:solidFill>
              </a:defRPr>
            </a:pPr>
            <a:endParaRPr lang="en-US" dirty="0"/>
          </a:p>
          <a:p>
            <a:pPr>
              <a:defRPr sz="1700">
                <a:solidFill>
                  <a:srgbClr val="555555"/>
                </a:solidFill>
              </a:defRPr>
            </a:pPr>
            <a:endParaRPr lang="en-US" dirty="0"/>
          </a:p>
          <a:p>
            <a:pPr>
              <a:defRPr sz="1700">
                <a:solidFill>
                  <a:srgbClr val="555555"/>
                </a:solidFill>
              </a:defRPr>
            </a:pPr>
            <a:r>
              <a:rPr dirty="0"/>
              <a:t>Making external-knowledge injection SAFE for clinical question answering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rPr dirty="0"/>
              <a:t>Specialized judge agents + veto arbiter · adversarial retrieval · frozen generator · free APIs · no fine-tuning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33856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rPr dirty="0"/>
              <a:t>Motivation —</a:t>
            </a:r>
            <a:r>
              <a:rPr lang="zh-CN" altLang="en-US" dirty="0"/>
              <a:t> </a:t>
            </a:r>
            <a:r>
              <a:rPr lang="en-US" sz="2500" b="1" dirty="0"/>
              <a:t>Why Multi-Stage Gating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B45F06"/>
                </a:solidFill>
              </a:defRPr>
            </a:pPr>
            <a:r>
              <a:rPr dirty="0"/>
              <a:t>• Clinical questions often need knowledge the local KB lacks → we must inject EXTERNAL evidence</a:t>
            </a:r>
          </a:p>
          <a:p>
            <a:pPr>
              <a:spcAft>
                <a:spcPts val="400"/>
              </a:spcAft>
              <a:defRPr sz="1500" b="0"/>
            </a:pPr>
            <a:r>
              <a:rPr dirty="0"/>
              <a:t>• But naive supplementation (search → append → generate) is unsafe:</a:t>
            </a:r>
          </a:p>
          <a:p>
            <a:pPr lvl="1">
              <a:spcAft>
                <a:spcPts val="400"/>
              </a:spcAft>
              <a:defRPr sz="1400" b="0"/>
            </a:pPr>
            <a:r>
              <a:rPr dirty="0"/>
              <a:t>     – Confirmation bias: search 'recovery' → the engine returns recovery content (false support)</a:t>
            </a:r>
          </a:p>
          <a:p>
            <a:pPr lvl="1">
              <a:spcAft>
                <a:spcPts val="400"/>
              </a:spcAft>
              <a:defRPr sz="1400" b="0"/>
            </a:pPr>
            <a:r>
              <a:rPr dirty="0"/>
              <a:t>     – Semantic drift: evidence about a broad class ('dementia') 'supports' a claim about a subtype ('Alzheimer's')</a:t>
            </a:r>
          </a:p>
          <a:p>
            <a:pPr lvl="1">
              <a:spcAft>
                <a:spcPts val="400"/>
              </a:spcAft>
              <a:defRPr sz="1400" b="0"/>
            </a:pPr>
            <a:r>
              <a:rPr dirty="0"/>
              <a:t>     – Modal swap: evidence says a rule 'helps'; the claim says one 'must' enforce it</a:t>
            </a:r>
          </a:p>
          <a:p>
            <a:pPr>
              <a:spcAft>
                <a:spcPts val="400"/>
              </a:spcAft>
              <a:defRPr sz="1500" b="1">
                <a:solidFill>
                  <a:srgbClr val="B45F06"/>
                </a:solidFill>
              </a:defRPr>
            </a:pPr>
            <a:r>
              <a:rPr dirty="0"/>
              <a:t>• Measured: naive external supplementation nets −4 to −5 on 120 TF (churn &gt; fixes)</a:t>
            </a:r>
          </a:p>
          <a:p>
            <a:pPr>
              <a:spcAft>
                <a:spcPts val="400"/>
              </a:spcAft>
              <a:defRPr sz="1500" b="1">
                <a:solidFill>
                  <a:srgbClr val="B45F06"/>
                </a:solidFill>
              </a:defRPr>
            </a:pPr>
            <a:r>
              <a:rPr dirty="0"/>
              <a:t>• Goal: a multi-agent architecture that makes external knowledge USABLE — inject facts without churn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09728"/>
            <a:ext cx="8289192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dirty="0">
                <a:solidFill>
                  <a:srgbClr val="1F3B57"/>
                </a:solidFill>
              </a:rPr>
              <a:t>Multi-Agent RAG — Adversarial </a:t>
            </a:r>
            <a:r>
              <a:rPr lang="en-US" altLang="zh-CN" sz="2100" b="1" dirty="0">
                <a:solidFill>
                  <a:srgbClr val="1F3B57"/>
                </a:solidFill>
              </a:rPr>
              <a:t>Retrieval</a:t>
            </a:r>
            <a:r>
              <a:rPr lang="zh-CN" altLang="en-US" sz="2100" b="1" dirty="0">
                <a:solidFill>
                  <a:srgbClr val="1F3B57"/>
                </a:solidFill>
              </a:rPr>
              <a:t> </a:t>
            </a:r>
            <a:r>
              <a:rPr lang="en-US" altLang="zh-CN" sz="2100" b="1" dirty="0">
                <a:solidFill>
                  <a:srgbClr val="1F3B57"/>
                </a:solidFill>
              </a:rPr>
              <a:t>and</a:t>
            </a:r>
            <a:r>
              <a:rPr lang="zh-CN" altLang="en-US" sz="2100" b="1" dirty="0">
                <a:solidFill>
                  <a:srgbClr val="1F3B57"/>
                </a:solidFill>
              </a:rPr>
              <a:t> </a:t>
            </a:r>
            <a:r>
              <a:rPr sz="2100" b="1" dirty="0">
                <a:solidFill>
                  <a:srgbClr val="1F3B57"/>
                </a:solidFill>
              </a:rPr>
              <a:t>Heterogeneous Verification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658368"/>
            <a:ext cx="11457432" cy="384048"/>
          </a:xfrm>
          <a:prstGeom prst="roundRect">
            <a:avLst/>
          </a:prstGeom>
          <a:solidFill>
            <a:srgbClr val="F9CB9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① Orchestrator Agent — coordinates every step via the shared Blackboard (deterministic loop)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005840" cy="73152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50" b="1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0" y="1371600"/>
            <a:ext cx="1645920" cy="731520"/>
          </a:xfrm>
          <a:prstGeom prst="roundRect">
            <a:avLst/>
          </a:prstGeom>
          <a:solidFill>
            <a:srgbClr val="CFE2F3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② Query Agent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rewrite + pro/con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371600"/>
            <a:ext cx="1828800" cy="731520"/>
          </a:xfrm>
          <a:prstGeom prst="roundRect">
            <a:avLst/>
          </a:prstGeom>
          <a:solidFill>
            <a:srgbClr val="CFE2F3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③ Retrieval Team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BM25+dense · rerank · noise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371600"/>
            <a:ext cx="1920240" cy="731520"/>
          </a:xfrm>
          <a:prstGeom prst="roundRect">
            <a:avLst/>
          </a:prstGeom>
          <a:solidFill>
            <a:srgbClr val="FCE5CD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④ Sufficiency (ItV)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5×Identify + Verify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2377440"/>
            <a:ext cx="1920240" cy="640080"/>
          </a:xfrm>
          <a:prstGeom prst="roundRect">
            <a:avLst/>
          </a:prstGeom>
          <a:solidFill>
            <a:srgbClr val="D9EAD3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00" b="1">
                <a:solidFill>
                  <a:srgbClr val="000000"/>
                </a:solidFill>
              </a:rPr>
              <a:t>⑤ Local-Completion</a:t>
            </a:r>
          </a:p>
          <a:p>
            <a:pPr algn="ctr"/>
            <a:r>
              <a:rPr sz="750" b="0">
                <a:solidFill>
                  <a:srgbClr val="000000"/>
                </a:solidFill>
              </a:rPr>
              <a:t>gap-local re-search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71600" y="1737360"/>
            <a:ext cx="18288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0" y="1737360"/>
            <a:ext cx="18288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1737360"/>
            <a:ext cx="18288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355080" y="2103120"/>
            <a:ext cx="0" cy="27432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46520" y="21488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B45F06"/>
                </a:solidFill>
              </a:rPr>
              <a:t>insufficient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611880"/>
            <a:ext cx="2651760" cy="914400"/>
          </a:xfrm>
          <a:prstGeom prst="roundRect">
            <a:avLst/>
          </a:prstGeom>
          <a:solidFill>
            <a:srgbClr val="D9D2E9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00" b="1">
                <a:solidFill>
                  <a:srgbClr val="000000"/>
                </a:solidFill>
              </a:rPr>
              <a:t>⑥ Adversarial Web-Research</a:t>
            </a:r>
          </a:p>
          <a:p>
            <a:pPr algn="ctr"/>
            <a:r>
              <a:rPr sz="750" b="0">
                <a:solidFill>
                  <a:srgbClr val="000000"/>
                </a:solidFill>
              </a:rPr>
              <a:t>Seek_Support (pro) + Seek_Refute (con)</a:t>
            </a:r>
          </a:p>
          <a:p>
            <a:pPr algn="ctr"/>
            <a:r>
              <a:rPr sz="750" b="0">
                <a:solidFill>
                  <a:srgbClr val="000000"/>
                </a:solidFill>
              </a:rPr>
              <a:t>Exa (clean web) + Europe PMC (medical)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3383280"/>
            <a:ext cx="3977639" cy="1874519"/>
          </a:xfrm>
          <a:prstGeom prst="roundRect">
            <a:avLst/>
          </a:prstGeom>
          <a:solidFill>
            <a:srgbClr val="FFF7DD"/>
          </a:solidFill>
          <a:ln w="20320">
            <a:solidFill>
              <a:srgbClr val="B45F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7486" y="3410712"/>
            <a:ext cx="2234906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 dirty="0">
                <a:solidFill>
                  <a:srgbClr val="B45F06"/>
                </a:solidFill>
              </a:rPr>
              <a:t>⑦ Heterogeneous Verification (TF only)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685032"/>
            <a:ext cx="3703320" cy="365760"/>
          </a:xfrm>
          <a:prstGeom prst="roundRect">
            <a:avLst/>
          </a:prstGeom>
          <a:solidFill>
            <a:srgbClr val="FFD966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830" b="0">
                <a:solidFill>
                  <a:srgbClr val="000000"/>
                </a:solidFill>
              </a:rPr>
              <a:t>Entity Judge — ontology boundary · single 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4078224"/>
            <a:ext cx="3703320" cy="365760"/>
          </a:xfrm>
          <a:prstGeom prst="roundRect">
            <a:avLst/>
          </a:prstGeom>
          <a:solidFill>
            <a:srgbClr val="FFD966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830" b="0">
                <a:solidFill>
                  <a:srgbClr val="000000"/>
                </a:solidFill>
              </a:rPr>
              <a:t>Modal Judge — must/make vs helps/may · few-shot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4471416"/>
            <a:ext cx="3703320" cy="420624"/>
          </a:xfrm>
          <a:prstGeom prst="roundRect">
            <a:avLst/>
          </a:prstGeom>
          <a:solidFill>
            <a:srgbClr val="FFD966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830" b="0">
                <a:solidFill>
                  <a:srgbClr val="000000"/>
                </a:solidFill>
              </a:rPr>
              <a:t>Fact Judge — 3-vote self-consistency + ontology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4919472"/>
            <a:ext cx="3703320" cy="274320"/>
          </a:xfrm>
          <a:prstGeom prst="roundRect">
            <a:avLst/>
          </a:prstGeom>
          <a:solidFill>
            <a:srgbClr val="F4B8B8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800" b="1">
                <a:solidFill>
                  <a:srgbClr val="000000"/>
                </a:solidFill>
              </a:rPr>
              <a:t>Arbiter — VETO: any red flag → INSUFFICIENT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3611880"/>
            <a:ext cx="1874519" cy="1920240"/>
          </a:xfrm>
          <a:prstGeom prst="roundRect">
            <a:avLst/>
          </a:prstGeom>
          <a:solidFill>
            <a:srgbClr val="B6D7A8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⑧ Answer Agent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GPT-4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(frozen, grounded)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4206240"/>
            <a:ext cx="1371600" cy="73152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1000" b="1">
                <a:solidFill>
                  <a:srgbClr val="000000"/>
                </a:solidFill>
              </a:rPr>
              <a:t>Final Answer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011680" y="3017520"/>
            <a:ext cx="3474720" cy="594360"/>
          </a:xfrm>
          <a:prstGeom prst="line">
            <a:avLst/>
          </a:prstGeom>
          <a:ln w="19050">
            <a:solidFill>
              <a:srgbClr val="674E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926080" y="30632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74EA7"/>
                </a:solidFill>
              </a:rPr>
              <a:t>external retrieval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17520" y="4069080"/>
            <a:ext cx="22860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23760" y="4206240"/>
            <a:ext cx="365760" cy="0"/>
          </a:xfrm>
          <a:prstGeom prst="line">
            <a:avLst/>
          </a:prstGeom>
          <a:ln w="19050">
            <a:solidFill>
              <a:srgbClr val="3876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0" y="3913632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8761D"/>
                </a:solidFill>
              </a:rPr>
              <a:t>TF: override/keep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691640" y="4526280"/>
            <a:ext cx="0" cy="914400"/>
          </a:xfrm>
          <a:prstGeom prst="line">
            <a:avLst/>
          </a:prstGeom>
          <a:ln w="19050">
            <a:solidFill>
              <a:srgbClr val="B45F0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91640" y="5440680"/>
            <a:ext cx="5897880" cy="0"/>
          </a:xfrm>
          <a:prstGeom prst="line">
            <a:avLst/>
          </a:prstGeom>
          <a:ln w="19050">
            <a:solidFill>
              <a:srgbClr val="B45F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840480" y="5230368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B45F06"/>
                </a:solidFill>
              </a:rPr>
              <a:t>MC: bypass court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15200" y="1737360"/>
            <a:ext cx="1188720" cy="0"/>
          </a:xfrm>
          <a:prstGeom prst="line">
            <a:avLst/>
          </a:prstGeom>
          <a:ln w="19050">
            <a:solidFill>
              <a:srgbClr val="387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03920" y="1737360"/>
            <a:ext cx="0" cy="1874520"/>
          </a:xfrm>
          <a:prstGeom prst="line">
            <a:avLst/>
          </a:prstGeom>
          <a:ln w="19050">
            <a:solidFill>
              <a:srgbClr val="3876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635240" y="1481328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8761D"/>
                </a:solidFill>
              </a:rPr>
              <a:t>sufficient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64040" y="4572000"/>
            <a:ext cx="22860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65760" y="5806440"/>
            <a:ext cx="11457432" cy="548640"/>
          </a:xfrm>
          <a:prstGeom prst="roundRect">
            <a:avLst/>
          </a:prstGeom>
          <a:solidFill>
            <a:srgbClr val="E2E2E2"/>
          </a:solidFill>
          <a:ln w="1778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12700" rIns="38100" bIns="12700" rtlCol="0" anchor="ctr"/>
          <a:lstStyle/>
          <a:p>
            <a:pPr algn="ctr"/>
            <a:r>
              <a:rPr sz="900" b="1">
                <a:solidFill>
                  <a:srgbClr val="000000"/>
                </a:solidFill>
              </a:rPr>
              <a:t>Shared Blackboard   question · queries · evidence{local, web_pro, web_con} · baseline_confidence · judge_flags{entity, modal, fact} · final_decision · trace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377440" y="5623560"/>
            <a:ext cx="0" cy="182880"/>
          </a:xfrm>
          <a:prstGeom prst="line">
            <a:avLst/>
          </a:prstGeom>
          <a:ln w="12700">
            <a:solidFill>
              <a:srgbClr val="8888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77440" y="5623560"/>
            <a:ext cx="0" cy="182880"/>
          </a:xfrm>
          <a:prstGeom prst="line">
            <a:avLst/>
          </a:prstGeom>
          <a:ln w="12700">
            <a:solidFill>
              <a:srgbClr val="8888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0" y="5623560"/>
            <a:ext cx="0" cy="182880"/>
          </a:xfrm>
          <a:prstGeom prst="line">
            <a:avLst/>
          </a:prstGeom>
          <a:ln w="12700">
            <a:solidFill>
              <a:srgbClr val="8888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400800" y="5623560"/>
            <a:ext cx="0" cy="182880"/>
          </a:xfrm>
          <a:prstGeom prst="line">
            <a:avLst/>
          </a:prstGeom>
          <a:ln w="12700">
            <a:solidFill>
              <a:srgbClr val="8888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503920" y="5623560"/>
            <a:ext cx="0" cy="182880"/>
          </a:xfrm>
          <a:prstGeom prst="line">
            <a:avLst/>
          </a:prstGeom>
          <a:ln w="12700">
            <a:solidFill>
              <a:srgbClr val="8888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503920" y="5623560"/>
            <a:ext cx="0" cy="182880"/>
          </a:xfrm>
          <a:prstGeom prst="line">
            <a:avLst/>
          </a:prstGeom>
          <a:ln w="12700">
            <a:solidFill>
              <a:srgbClr val="8888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57200" y="55778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888888"/>
                </a:solidFill>
              </a:rPr>
              <a:t>every agent reads / writes 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The Agents (1/2) — Function &amp; Implementation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631534"/>
              </p:ext>
            </p:extLst>
          </p:nvPr>
        </p:nvGraphicFramePr>
        <p:xfrm>
          <a:off x="457200" y="128016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12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Function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 principle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① 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System control hub: classifies question types, routes execution, and manages state.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Deterministic Python while-loop over a Blackboard dataclass (no LangGraph/AutoGen) → transparent, ablatable control flow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② Query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Query rewriting and semantic decomposition for both local and external pathways.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Generates optimized search queries. For external pipelines, it strictly outputs an adversarial query pair (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Seek_Support</a:t>
                      </a:r>
                      <a:r>
                        <a:rPr lang="en-US" dirty="0"/>
                        <a:t> and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Seek_Refute</a:t>
                      </a:r>
                      <a:r>
                        <a:rPr lang="en-US" dirty="0"/>
                        <a:t>) to preempt confirmation bias.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③ Retrieval 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Gathers, filters, and ranks evidence from the local knowledge base (KB).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dirty="0"/>
                        <a:t>Hybrid BM25 (lexical) + dense </a:t>
                      </a:r>
                      <a:r>
                        <a:rPr dirty="0" err="1"/>
                        <a:t>bge</a:t>
                      </a:r>
                      <a:r>
                        <a:rPr dirty="0"/>
                        <a:t>-large (RRF) → KB-noise filter → bge-reranker-v2-m3 cross-encoder → smart-window expansion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④ Sufficiency Panel (ItV)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Initial semantic gating: evaluates if the retrieved local context is sufficient.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  <a:defRPr sz="1200" b="1"/>
                      </a:pP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Identifies specific knowledge gaps. Triggers Agent ⑤ for targeted local completion, or routes to external pipelines if the local KB is entirely deficient.</a:t>
                      </a: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The Agents (2/2) — Function &amp; Implementation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511759"/>
              </p:ext>
            </p:extLst>
          </p:nvPr>
        </p:nvGraphicFramePr>
        <p:xfrm>
          <a:off x="457200" y="1280160"/>
          <a:ext cx="112471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611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Function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 principle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⑤ Local-Completion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Targeted local re-search based on identified missing facts.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Translates identified knowledge gaps into precise local queries to maximize internal KB utilization before falling back to external sources.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⑥ Adversarial Web-Research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Executes adversarial external knowledge acquisition.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b="0" dirty="0"/>
                        <a:t>Dual-track routing: Uses Europe PMC for rigorous medical facts and </a:t>
                      </a:r>
                      <a:r>
                        <a:rPr lang="en-US" b="0" dirty="0" err="1"/>
                        <a:t>Exa.ai</a:t>
                      </a:r>
                      <a:r>
                        <a:rPr lang="en-US" b="0" dirty="0"/>
                        <a:t> for general/policy rules. Executes Pro/Con queries in parallel to gather conflicting evidence.</a:t>
                      </a:r>
                      <a:endParaRPr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⑦ Verification Court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Strict multi-stage semantic gating to prevent knowledge contamination (0 Churn).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b="0" dirty="0"/>
                        <a:t>Heterogeneous Panel: Entity Judge (ontology bounds) + Modal Judge (intensity match) + Fact Judge (3-vote self-consistency). Arbiter enforces a strict ONE-VETO rule to keep the baseline safe.</a:t>
                      </a:r>
                      <a:endParaRPr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⑧ Answer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dirty="0"/>
                        <a:t>Final response generation grounded strictly in the verified Blackboard evidence.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lang="en-US" b="0" dirty="0"/>
                        <a:t>Frozen Generator: Uses a frozen LLM with strict grounding constraints (No fine-tuning). Relies entirely on the verified context to prevent intrinsic hallucinations.</a:t>
                      </a:r>
                      <a:endParaRPr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Core Innovation — The Heterogeneous Verification Court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B45F06"/>
                </a:solidFill>
              </a:defRPr>
            </a:pPr>
            <a:r>
              <a:t>• Homogeneous voting (5 identical agents) lowers random noise but shares SYSTEMATIC blind spots → confident WRONG consensus. Instead, three SPECIALIST judges cross-examine + a veto Arbiter: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28600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Judge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Blocks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Entity 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Ontology-boundary leakage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Single gpt-4 call: is the evidence's subject a broader class than the claim's subtype? → MISMATCH (class properties don't transfer to a subtype)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Modal 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Modal / degree swap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Single gpt-4 call, few-shot: obligation ('must / make them') vs benefit ('helps / may') → DOWNGRADE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Fact 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Random variance + weak 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3-vote self-consistency (temp 0.4, majority) + medical-ontology rule (syndrome vs disease vs disorder); judges the OVERALL literature, not a single null study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Arbiter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False overrides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VETO — any MISMATCH / DOWNGRADE / NO-INFO → INSUFFICIENT → keep the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B45F06"/>
                </a:solidFill>
              </a:defRPr>
            </a:pPr>
            <a:r>
              <a:t>• Division of labor: the Fact judge (majority vote) recovers genuine fixes; Entity/Modal vetoes block the concept/modal swaps a naive TRUE would churn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49431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rPr dirty="0"/>
              <a:t>Adversarial Retrieval &amp; the Shared Blackboard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27909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B45F06"/>
                </a:solidFill>
              </a:defRPr>
            </a:pPr>
            <a:r>
              <a:rPr dirty="0"/>
              <a:t>• Adversarial Web-Research — dual pro/con queries defeat search confirmation bias</a:t>
            </a:r>
          </a:p>
          <a:p>
            <a:pPr lvl="1">
              <a:spcAft>
                <a:spcPts val="400"/>
              </a:spcAft>
              <a:defRPr sz="1400" b="0"/>
            </a:pPr>
            <a:r>
              <a:rPr dirty="0"/>
              <a:t>     – </a:t>
            </a:r>
            <a:r>
              <a:rPr dirty="0" err="1"/>
              <a:t>web_pro</a:t>
            </a:r>
            <a:r>
              <a:rPr dirty="0"/>
              <a:t> + </a:t>
            </a:r>
            <a:r>
              <a:rPr dirty="0" err="1"/>
              <a:t>web_con</a:t>
            </a:r>
            <a:r>
              <a:rPr dirty="0"/>
              <a:t> on the blackboard → the court judges amid conflicting evidence, not a one-sided echo</a:t>
            </a:r>
          </a:p>
          <a:p>
            <a:pPr lvl="1">
              <a:spcAft>
                <a:spcPts val="400"/>
              </a:spcAft>
              <a:defRPr sz="1400" b="0"/>
            </a:pPr>
            <a:r>
              <a:rPr dirty="0"/>
              <a:t>     – Free medical + general backends: Europe PMC (no key) surfaces authoritative abstracts; Exa returns clean, full-context web</a:t>
            </a:r>
          </a:p>
          <a:p>
            <a:pPr>
              <a:spcAft>
                <a:spcPts val="400"/>
              </a:spcAft>
              <a:defRPr sz="1500" b="1">
                <a:solidFill>
                  <a:srgbClr val="B45F06"/>
                </a:solidFill>
              </a:defRPr>
            </a:pPr>
            <a:r>
              <a:rPr dirty="0"/>
              <a:t>• Shared Blackboard (a plain </a:t>
            </a:r>
            <a:r>
              <a:rPr dirty="0" err="1"/>
              <a:t>dataclass</a:t>
            </a:r>
            <a:r>
              <a:rPr dirty="0"/>
              <a:t> — transparent &amp; </a:t>
            </a:r>
            <a:r>
              <a:rPr dirty="0" err="1"/>
              <a:t>ablatable</a:t>
            </a:r>
            <a:r>
              <a:rPr dirty="0"/>
              <a:t>)</a:t>
            </a:r>
          </a:p>
          <a:p>
            <a:pPr lvl="1">
              <a:spcAft>
                <a:spcPts val="400"/>
              </a:spcAft>
              <a:defRPr sz="1400" b="0"/>
            </a:pPr>
            <a:r>
              <a:rPr dirty="0"/>
              <a:t>     – question · queries · evidence{local, </a:t>
            </a:r>
            <a:r>
              <a:rPr dirty="0" err="1"/>
              <a:t>web_pro</a:t>
            </a:r>
            <a:r>
              <a:rPr dirty="0"/>
              <a:t>, </a:t>
            </a:r>
            <a:r>
              <a:rPr dirty="0" err="1"/>
              <a:t>web_con</a:t>
            </a:r>
            <a:r>
              <a:rPr dirty="0"/>
              <a:t>} · </a:t>
            </a:r>
            <a:r>
              <a:rPr dirty="0" err="1"/>
              <a:t>baseline_confidence</a:t>
            </a:r>
            <a:r>
              <a:rPr dirty="0"/>
              <a:t> · </a:t>
            </a:r>
            <a:r>
              <a:rPr dirty="0" err="1"/>
              <a:t>judge_flags</a:t>
            </a:r>
            <a:r>
              <a:rPr dirty="0"/>
              <a:t>{entity, modal, fact} · final · trace</a:t>
            </a:r>
          </a:p>
          <a:p>
            <a:pPr>
              <a:spcAft>
                <a:spcPts val="400"/>
              </a:spcAft>
              <a:defRPr sz="1500" b="1">
                <a:solidFill>
                  <a:srgbClr val="B45F06"/>
                </a:solidFill>
              </a:defRPr>
            </a:pPr>
            <a:r>
              <a:rPr dirty="0"/>
              <a:t>• Deterministic while-loop orchestration (no framework takeover)</a:t>
            </a:r>
          </a:p>
          <a:p>
            <a:pPr lvl="1">
              <a:spcAft>
                <a:spcPts val="400"/>
              </a:spcAft>
              <a:defRPr sz="1400" b="0"/>
            </a:pPr>
            <a:r>
              <a:rPr dirty="0"/>
              <a:t>     – Every gate is inspectable via the trace and </a:t>
            </a:r>
            <a:r>
              <a:rPr dirty="0" err="1"/>
              <a:t>ablatable</a:t>
            </a:r>
            <a:r>
              <a:rPr dirty="0"/>
              <a:t> — flip </a:t>
            </a:r>
            <a:r>
              <a:rPr dirty="0" err="1"/>
              <a:t>judge_flags.modal</a:t>
            </a:r>
            <a:r>
              <a:rPr dirty="0"/>
              <a:t> off, re-run, measure the delta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rPr dirty="0"/>
              <a:t>Validation &amp;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2313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rPr dirty="0"/>
              <a:t>• The right baseline is NAIVE supplementation, not the frozen model:</a:t>
            </a:r>
          </a:p>
          <a:p>
            <a:pPr lvl="1">
              <a:spcAft>
                <a:spcPts val="400"/>
              </a:spcAft>
              <a:defRPr sz="1300" b="0"/>
            </a:pPr>
            <a:r>
              <a:rPr dirty="0"/>
              <a:t>     – Naive external supplementation: net −4 to −5 (churn)  →  with the Court: net ≈ 0 (churn eliminated)</a:t>
            </a:r>
          </a:p>
          <a:p>
            <a:pPr lvl="1">
              <a:spcAft>
                <a:spcPts val="400"/>
              </a:spcAft>
              <a:defRPr sz="1300" b="0"/>
            </a:pPr>
            <a:r>
              <a:rPr dirty="0"/>
              <a:t>     – The Court makes external-knowledge injection SAFE — the enabling contribution, independent of the raw score</a:t>
            </a:r>
          </a:p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rPr dirty="0"/>
              <a:t>• </a:t>
            </a:r>
            <a:r>
              <a:rPr lang="en-US" sz="1400" b="1" dirty="0"/>
              <a:t>Ablation study confirms defense value: removing the Court drops net score back to -4</a:t>
            </a:r>
            <a:endParaRPr dirty="0"/>
          </a:p>
          <a:p>
            <a:pPr lvl="1">
              <a:spcAft>
                <a:spcPts val="400"/>
              </a:spcAft>
              <a:defRPr sz="1300" b="0"/>
            </a:pPr>
            <a:r>
              <a:rPr dirty="0"/>
              <a:t>     – Medical-ontology rule fixed the syndrome-vs-disease case; 3-vote Fact judge removed variance-driven regressions</a:t>
            </a:r>
          </a:p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rPr dirty="0"/>
              <a:t>• Qualitative finding — the system CORRECTED a benchmark error</a:t>
            </a:r>
          </a:p>
          <a:p>
            <a:pPr lvl="1">
              <a:spcAft>
                <a:spcPts val="400"/>
              </a:spcAft>
              <a:defRPr sz="1300" b="0"/>
            </a:pPr>
            <a:r>
              <a:rPr dirty="0"/>
              <a:t>     – It flagged '90% of communication is nonverbal' as a debunked urban legend (Exa found the refuting paper), disagreeing with the curriculum gold — high-quality RAG can correct legacy errors in evaluation benchmarks</a:t>
            </a:r>
          </a:p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rPr dirty="0"/>
              <a:t>• Properties: frozen generator · free APIs (Exa / Europe PMC / PubMed) · no fine-tuning · every judge an </a:t>
            </a:r>
            <a:r>
              <a:rPr dirty="0" err="1"/>
              <a:t>ablatable</a:t>
            </a:r>
            <a:r>
              <a:rPr dirty="0"/>
              <a:t> module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</TotalTime>
  <Words>1214</Words>
  <Application>Microsoft Macintosh PowerPoint</Application>
  <PresentationFormat>Widescreen</PresentationFormat>
  <Paragraphs>110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Geng, Minjie</cp:lastModifiedBy>
  <cp:revision>2</cp:revision>
  <dcterms:created xsi:type="dcterms:W3CDTF">2013-01-27T09:14:16Z</dcterms:created>
  <dcterms:modified xsi:type="dcterms:W3CDTF">2026-07-05T16:48:07Z</dcterms:modified>
  <cp:category/>
</cp:coreProperties>
</file>