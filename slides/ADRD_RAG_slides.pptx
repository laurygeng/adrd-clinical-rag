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F3B57"/>
                </a:solidFill>
              </a:defRPr>
            </a:pPr>
            <a:r>
              <a:t>Sufficiency-Aware Corrective RAG for Clinical Caregiving QA</a:t>
            </a:r>
          </a:p>
          <a:p>
            <a:pPr>
              <a:defRPr sz="1700">
                <a:solidFill>
                  <a:srgbClr val="555555"/>
                </a:solidFill>
              </a:defRPr>
            </a:pPr>
            <a:r>
              <a:t>Detect insufficient local knowledge, then complete it with gap-guided, type-aware retrieval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Generalizable strategies · frozen generator · free APIs only · no fine-tuning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System Architecture — Best Configuration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5450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Retrieve → judge sufficiency (ItV) → if insufficient, complete (gap-local, then web for MC) → generate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① Evaluate SUFFICIENCY, not Relevance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Gate decides per question: is the retrieved context enough to ANSWER (not just on-topic)?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B45F06"/>
                </a:solidFill>
              </a:defRPr>
            </a:pPr>
            <a:r>
              <a:t>• Models (cheap, no training): gpt-4o-mini for Identify + Verify · all-MiniLM-L6-v2 for consensus</a:t>
            </a:r>
          </a:p>
          <a:p>
            <a:pPr>
              <a:spcAft>
                <a:spcPts val="400"/>
              </a:spcAft>
              <a:defRPr sz="1500" b="1">
                <a:solidFill>
                  <a:srgbClr val="1F3B57"/>
                </a:solidFill>
              </a:defRPr>
            </a:pPr>
            <a:r>
              <a:t>• Algorithm — Identify-then-Verify (3 steps):</a:t>
            </a:r>
          </a:p>
          <a:p>
            <a:pPr lvl="1">
              <a:spcAft>
                <a:spcPts val="400"/>
              </a:spcAft>
              <a:defRPr sz="1400"/>
            </a:pPr>
            <a:r>
              <a:t>    – Identify ×5: prompt 'name the single most important MISSING fact, or NONE' (temp 0.7) → 5 hypotheses</a:t>
            </a:r>
          </a:p>
          <a:p>
            <a:pPr lvl="1">
              <a:spcAft>
                <a:spcPts val="400"/>
              </a:spcAft>
              <a:defRPr sz="1400"/>
            </a:pPr>
            <a:r>
              <a:t>    – Score: none_frac = fraction answering 'NONE'.  If none_frac ≥ 0.6 → SUFFICIENT (runs agree nothing missing)</a:t>
            </a:r>
          </a:p>
          <a:p>
            <a:pPr lvl="1">
              <a:spcAft>
                <a:spcPts val="400"/>
              </a:spcAft>
              <a:defRPr sz="1400"/>
            </a:pPr>
            <a:r>
              <a:t>    – Else Verify: pick consensus gap (highest mean cosine-sim among the 5) → ask 'is it PRESENT in context?'</a:t>
            </a:r>
          </a:p>
          <a:p>
            <a:pPr lvl="2">
              <a:spcAft>
                <a:spcPts val="400"/>
              </a:spcAft>
              <a:defRPr sz="1300"/>
            </a:pPr>
            <a:r>
              <a:t>        · PRESENT ⇒ the gap was hallucinated ⇒ SUFFICIENT    |    ABSENT ⇒ truly missing ⇒ INSUFFICIENT</a:t>
            </a:r>
          </a:p>
          <a:p>
            <a:pPr>
              <a:spcAft>
                <a:spcPts val="400"/>
              </a:spcAft>
              <a:defRPr sz="1500"/>
            </a:pPr>
            <a:r>
              <a:t>• Scoring basis: agreement that nothing is missing + attribution that the named gap is genuinely absent</a:t>
            </a:r>
          </a:p>
          <a:p>
            <a:pPr>
              <a:spcAft>
                <a:spcPts val="400"/>
              </a:spcAft>
              <a:defRPr sz="1500" b="0">
                <a:solidFill>
                  <a:srgbClr val="38761D"/>
                </a:solidFill>
              </a:defRPr>
            </a:pPr>
            <a:r>
              <a:t>• Why it generalizes: judges answerability of the actual question, independent of topical overlap</a:t>
            </a:r>
          </a:p>
          <a:p>
            <a:pPr lvl="1">
              <a:spcAft>
                <a:spcPts val="400"/>
              </a:spcAft>
              <a:defRPr sz="1400"/>
            </a:pPr>
            <a:r>
              <a:t>    – Sufficiency AUC 0.73, vs relevance/confidence baselines 0.47–0.68 (next-to-last slide)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② Gap-guided, LOCAL-first Completion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Turn the identified gap into targeted queries and re-search the local KB first (free)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B45F06"/>
                </a:solidFill>
              </a:defRPr>
            </a:pPr>
            <a:r>
              <a:t>• Mechanism: missing-info phrase → gpt-4o-mini rewrites into focused query/queries → hybrid re-retrieve</a:t>
            </a:r>
          </a:p>
          <a:p>
            <a:pPr lvl="1">
              <a:spcAft>
                <a:spcPts val="400"/>
              </a:spcAft>
              <a:defRPr sz="1300"/>
            </a:pPr>
            <a:r>
              <a:t>    – MERGE new + original passages → bge-reranker-v2-m3 re-scores ALL → keep top-k → re-run the gate</a:t>
            </a:r>
          </a:p>
          <a:p>
            <a:pPr lvl="1">
              <a:spcAft>
                <a:spcPts val="400"/>
              </a:spcAft>
              <a:defRPr sz="1300"/>
            </a:pPr>
            <a:r>
              <a:t>    – (found passages are cross-encoder re-ranked with the originals — not blindly appended)</a:t>
            </a:r>
          </a:p>
          <a:p>
            <a:pPr>
              <a:spcAft>
                <a:spcPts val="400"/>
              </a:spcAft>
              <a:defRPr sz="1400" b="1">
                <a:solidFill>
                  <a:srgbClr val="1F3B57"/>
                </a:solidFill>
              </a:defRPr>
            </a:pPr>
            <a:r>
              <a:t>• Real example — MC_008  ('loved one frowns &amp; turns away during a conversation — why?')</a:t>
            </a:r>
          </a:p>
          <a:p>
            <a:pPr lvl="1">
              <a:spcAft>
                <a:spcPts val="400"/>
              </a:spcAft>
              <a:defRPr sz="1300"/>
            </a:pPr>
            <a:r>
              <a:t>    – gate's gap: "specific strategies to prevent catastrophic reactions during interactions"</a:t>
            </a:r>
          </a:p>
          <a:p>
            <a:pPr lvl="1">
              <a:spcAft>
                <a:spcPts val="400"/>
              </a:spcAft>
              <a:defRPr sz="1300"/>
            </a:pPr>
            <a:r>
              <a:t>    – decomposed → 4 targeted queries:</a:t>
            </a:r>
          </a:p>
          <a:p>
            <a:pPr lvl="2">
              <a:spcAft>
                <a:spcPts val="400"/>
              </a:spcAft>
              <a:defRPr sz="1200"/>
            </a:pPr>
            <a:r>
              <a:t>        · 'catastrophic reaction dementia management' · 'caregiver response to agitation in dementia'</a:t>
            </a:r>
          </a:p>
          <a:p>
            <a:pPr lvl="2">
              <a:spcAft>
                <a:spcPts val="400"/>
              </a:spcAft>
              <a:defRPr sz="1200"/>
            </a:pPr>
            <a:r>
              <a:t>        · 'dementia gentle touch / verbal reassurance / catastrophic-reaction prevention' · 'active listening …'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8761D"/>
                </a:solidFill>
              </a:defRPr>
            </a:pPr>
            <a:r>
              <a:t>    – → the targeted query surfaces the catastrophic-reaction passage the generic question-query had buried</a:t>
            </a:r>
          </a:p>
          <a:p>
            <a:pPr>
              <a:spcAft>
                <a:spcPts val="400"/>
              </a:spcAft>
              <a:defRPr sz="1400"/>
            </a:pPr>
            <a:r>
              <a:t>• Effect: on a gate-blocked subset, LOCAL-only gap recovery fixed 2/6 — zero network, zero cost</a:t>
            </a:r>
          </a:p>
          <a:p>
            <a:pPr>
              <a:spcAft>
                <a:spcPts val="400"/>
              </a:spcAft>
              <a:defRPr sz="1400" b="0">
                <a:solidFill>
                  <a:srgbClr val="38761D"/>
                </a:solidFill>
              </a:defRPr>
            </a:pPr>
            <a:r>
              <a:t>• Why it generalizes: works on any KB; converts 'what's missing' into precise retrieval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③ Type-aware Completion Routing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Tested whether external web evidence helps ALL question types — it does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F3B57"/>
                </a:solidFill>
              </a:defRPr>
            </a:pPr>
            <a:r>
              <a:t>• Experiment: 14 questions that triggered web, Tavily backend, measured answer flips vs no-web: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  <a:gridCol w="2011680"/>
                <a:gridCol w="914400"/>
              </a:tblGrid>
              <a:tr h="5181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Question type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Web fired on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Fixed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Broke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Net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MC (pick best option)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  (MC_016)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+1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TF (binary true/false)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~8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  (TF_035, TF_046)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−2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6576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Analysis: MC = pick-best-option → more evidence helps;  TF = binary entailment → extra/contradicting sentences flip the verdict</a:t>
            </a:r>
          </a:p>
          <a:p>
            <a:pPr>
              <a:spcAft>
                <a:spcPts val="400"/>
              </a:spcAft>
              <a:defRPr sz="1400" b="1">
                <a:solidFill>
                  <a:srgbClr val="B45F06"/>
                </a:solidFill>
              </a:defRPr>
            </a:pPr>
            <a:r>
              <a:t>• Decision: fire web for MC only; TF keeps gap-local (local, noise-free)</a:t>
            </a:r>
          </a:p>
          <a:p>
            <a:pPr>
              <a:spcAft>
                <a:spcPts val="400"/>
              </a:spcAft>
              <a:defRPr sz="1400" b="0">
                <a:solidFill>
                  <a:srgbClr val="38761D"/>
                </a:solidFill>
              </a:defRPr>
            </a:pPr>
            <a:r>
              <a:t>• Effect: +3 on full 149 (135 → 138); TF rose to 111/120</a:t>
            </a:r>
          </a:p>
          <a:p>
            <a:pPr>
              <a:spcAft>
                <a:spcPts val="400"/>
              </a:spcAft>
              <a:defRPr sz="1400" b="0">
                <a:solidFill>
                  <a:srgbClr val="38761D"/>
                </a:solidFill>
              </a:defRPr>
            </a:pPr>
            <a:r>
              <a:t>• Why it generalizes: applies to any selection-vs-verification task split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④ Denoised Corrective Retrieval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Bring external knowledge in WITHOUT flooding 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F3B57"/>
                </a:solidFill>
              </a:defRPr>
            </a:pPr>
            <a:r>
              <a:t>• Per external source (Tavily / PubMed):</a:t>
            </a:r>
          </a:p>
          <a:p>
            <a:pPr lvl="1">
              <a:spcAft>
                <a:spcPts val="400"/>
              </a:spcAft>
              <a:defRPr sz="1300"/>
            </a:pPr>
            <a:r>
              <a:t>    – sentence-split → drop boilerplate/junk (regex filter) &amp; sentences &lt;15 chars → cap 12 sentences/source</a:t>
            </a:r>
          </a:p>
          <a:p>
            <a:pPr lvl="1">
              <a:spcAft>
                <a:spcPts val="400"/>
              </a:spcAft>
              <a:defRPr sz="1300"/>
            </a:pPr>
            <a:r>
              <a:t>    – near-duplicate dedup across sources</a:t>
            </a:r>
          </a:p>
          <a:p>
            <a:pPr>
              <a:spcAft>
                <a:spcPts val="400"/>
              </a:spcAft>
              <a:defRPr sz="1400" b="1">
                <a:solidFill>
                  <a:srgbClr val="1F3B57"/>
                </a:solidFill>
              </a:defRPr>
            </a:pPr>
            <a:r>
              <a:t>• Before merging:</a:t>
            </a:r>
          </a:p>
          <a:p>
            <a:pPr lvl="1">
              <a:spcAft>
                <a:spcPts val="400"/>
              </a:spcAft>
              <a:defRPr sz="1300"/>
            </a:pPr>
            <a:r>
              <a:t>    – relevance pre-filter — rerank web sentences vs question, keep top-20</a:t>
            </a:r>
          </a:p>
          <a:p>
            <a:pPr>
              <a:spcAft>
                <a:spcPts val="400"/>
              </a:spcAft>
              <a:defRPr sz="1400" b="1">
                <a:solidFill>
                  <a:srgbClr val="1F3B57"/>
                </a:solidFill>
              </a:defRPr>
            </a:pPr>
            <a:r>
              <a:t>• Merge &amp; select:</a:t>
            </a:r>
          </a:p>
          <a:p>
            <a:pPr lvl="1">
              <a:spcAft>
                <a:spcPts val="400"/>
              </a:spcAft>
              <a:defRPr sz="1300"/>
            </a:pPr>
            <a:r>
              <a:t>    – merge web + local → GLOBAL cross-encoder rerank (bge-reranker-v2-m3)</a:t>
            </a:r>
          </a:p>
          <a:p>
            <a:pPr lvl="1">
              <a:spcAft>
                <a:spcPts val="400"/>
              </a:spcAft>
              <a:defRPr sz="1300"/>
            </a:pPr>
            <a:r>
              <a:t>    – local-floor guard: reserve ≥8 of top-k for LOCAL passages so web can't crowd out the answer (over-cap web deferred)</a:t>
            </a:r>
          </a:p>
          <a:p>
            <a:pPr>
              <a:spcAft>
                <a:spcPts val="400"/>
              </a:spcAft>
              <a:defRPr sz="1400" b="1">
                <a:solidFill>
                  <a:srgbClr val="B45F06"/>
                </a:solidFill>
              </a:defRPr>
            </a:pPr>
            <a:r>
              <a:t>• Do we store the external knowledge back into the KB?</a:t>
            </a:r>
          </a:p>
          <a:p>
            <a:pPr lvl="1">
              <a:spcAft>
                <a:spcPts val="400"/>
              </a:spcAft>
              <a:defRPr sz="1300"/>
            </a:pPr>
            <a:r>
              <a:t>    – No — results are CACHED by query hash (reproducibility), but NOT persisted to the vector store; used in-context per question only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555555"/>
                </a:solidFill>
              </a:defRPr>
            </a:pPr>
            <a:r>
              <a:t>    – Future improvement: persist ItV-verified external facts back into the KB to grow it over time</a:t>
            </a:r>
          </a:p>
          <a:p>
            <a:pPr>
              <a:spcAft>
                <a:spcPts val="400"/>
              </a:spcAft>
              <a:defRPr sz="1400" b="0">
                <a:solidFill>
                  <a:srgbClr val="38761D"/>
                </a:solidFill>
              </a:defRPr>
            </a:pPr>
            <a:r>
              <a:t>• Why it generalizes: a standard denoising chain for any web-augmented RAG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Ablation — Effect of Each Strategy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3108960"/>
                <a:gridCol w="3200400"/>
              </a:tblGrid>
              <a:tr h="6858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Strategy removed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Measured on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Effect</a:t>
                      </a:r>
                    </a:p>
                  </a:txBody>
                  <a:tcPr>
                    <a:solidFill>
                      <a:srgbClr val="1F3B5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Type-aware routing  (→ web on TF too)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full 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138 → 135   (−3)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Corrective web backend  (Tavily → DuckDuckGo)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web-firing MC subset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loses MC_016 (DDG: 0 confirming hits)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Gap-local re-retrieval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gate-blocked 6-Q subset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−2 recovered answers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Sufficiency gate  (ItV → NLI answerability)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sufficiency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0.73 → 0.675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Sufficiency gate  (ItV → CRAG off-the-shelf eval)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sufficiency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0.73 → 0.47 (below random)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715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55555"/>
                </a:solidFill>
              </a:defRPr>
            </a:pPr>
            <a:r>
              <a:t>• Mixed scope (full-149 where available, else AUC / targeted subset) — labeled per row; full per-component 149 ablations are a next step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Direct Paper Method vs Our Strategy — and End-to-End Result</a:t>
            </a:r>
          </a:p>
        </p:txBody>
      </p:sp>
      <p:pic>
        <p:nvPicPr>
          <p:cNvPr id="3" name="Picture 2" descr="evaluator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7205663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280160"/>
            <a:ext cx="46634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B45F06"/>
                </a:solidFill>
              </a:defRPr>
            </a:pPr>
            <a:r>
              <a:t>• CRAG's off-the-shelf evaluator, used directly on our data: AUC 0.47 (below random)</a:t>
            </a:r>
          </a:p>
          <a:p>
            <a:pPr>
              <a:spcAft>
                <a:spcPts val="400"/>
              </a:spcAft>
              <a:defRPr sz="1300" b="1">
                <a:solidFill>
                  <a:srgbClr val="B45F06"/>
                </a:solidFill>
              </a:defRPr>
            </a:pPr>
            <a:r>
              <a:t>• Our ItV sufficiency strategy: AUC 0.73</a:t>
            </a:r>
          </a:p>
          <a:p>
            <a:pPr>
              <a:spcAft>
                <a:spcPts val="400"/>
              </a:spcAft>
              <a:defRPr sz="1300"/>
            </a:pPr>
            <a:r>
              <a:t>• AUC is dataset-agnostic — the gain is the STRATEGY, not benchmark tuning</a:t>
            </a:r>
          </a:p>
          <a:p>
            <a:pPr>
              <a:spcAft>
                <a:spcPts val="400"/>
              </a:spcAft>
              <a:defRPr sz="1300"/>
            </a:pPr>
            <a:r>
              <a:t>• </a:t>
            </a:r>
          </a:p>
          <a:p>
            <a:pPr>
              <a:spcAft>
                <a:spcPts val="400"/>
              </a:spcAft>
              <a:defRPr sz="1300" b="1">
                <a:solidFill>
                  <a:srgbClr val="1F3B57"/>
                </a:solidFill>
              </a:defRPr>
            </a:pPr>
            <a:r>
              <a:t>• End-to-end on ADRD-Bench:</a:t>
            </a:r>
          </a:p>
          <a:p>
            <a:pPr lvl="1">
              <a:spcAft>
                <a:spcPts val="400"/>
              </a:spcAft>
              <a:defRPr sz="1200"/>
            </a:pPr>
            <a:r>
              <a:t>    – 92.6% overall · 95.8% on unambiguous items</a:t>
            </a:r>
          </a:p>
          <a:p>
            <a:pPr lvl="1">
              <a:spcAft>
                <a:spcPts val="400"/>
              </a:spcAft>
              <a:defRPr sz="1200"/>
            </a:pPr>
            <a:r>
              <a:t>    – frozen GPT-4 · free APIs · no fine-tuning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338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Multi-Agent Architecture (design)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Role-specialized agents coordinated by an orchestrator; net-new lever = verify/debate panel</a:t>
            </a:r>
          </a:p>
        </p:txBody>
      </p:sp>
      <p:pic>
        <p:nvPicPr>
          <p:cNvPr id="3" name="Picture 2" descr="multi_ag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3366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869680" y="1188720"/>
            <a:ext cx="3108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B45F06"/>
                </a:solidFill>
              </a:defRPr>
            </a:pPr>
            <a:r>
              <a:t>• ① Orchestrator — route &amp; coordinate</a:t>
            </a:r>
          </a:p>
          <a:p>
            <a:pPr>
              <a:spcAft>
                <a:spcPts val="600"/>
              </a:spcAft>
              <a:defRPr sz="1200" b="0"/>
            </a:pPr>
            <a:r>
              <a:t>• ② Evidence agents — Local-KB / Gap / Web</a:t>
            </a:r>
          </a:p>
          <a:p>
            <a:pPr>
              <a:spcAft>
                <a:spcPts val="600"/>
              </a:spcAft>
              <a:defRPr sz="1200" b="0"/>
            </a:pPr>
            <a:r>
              <a:t>• ③ Judge Panel — ItV sufficiency (5 Identify + Verify)</a:t>
            </a:r>
          </a:p>
          <a:p>
            <a:pPr>
              <a:spcAft>
                <a:spcPts val="600"/>
              </a:spcAft>
              <a:defRPr sz="1200" b="0"/>
            </a:pPr>
            <a:r>
              <a:t>• ④ Answer agent — frozen GPT-4</a:t>
            </a:r>
          </a:p>
          <a:p>
            <a:pPr>
              <a:spcAft>
                <a:spcPts val="600"/>
              </a:spcAft>
              <a:defRPr sz="1200" b="1">
                <a:solidFill>
                  <a:srgbClr val="B45F06"/>
                </a:solidFill>
              </a:defRPr>
            </a:pPr>
            <a:r>
              <a:t>• ⑤ Debate panel — Proponent/Opponent/Judge (TF) — NEW</a:t>
            </a:r>
          </a:p>
          <a:p>
            <a:pPr>
              <a:spcAft>
                <a:spcPts val="600"/>
              </a:spcAft>
              <a:defRPr sz="1200" b="0"/>
            </a:pPr>
            <a:r>
              <a:t>• ⑥ Curation agent — persist verified facts (optional)</a:t>
            </a:r>
          </a:p>
          <a:p>
            <a:pPr>
              <a:spcAft>
                <a:spcPts val="600"/>
              </a:spcAft>
              <a:defRPr sz="1200" b="0"/>
            </a:pPr>
          </a:p>
          <a:p>
            <a:pPr>
              <a:spcAft>
                <a:spcPts val="600"/>
              </a:spcAft>
              <a:defRPr sz="1200" b="0"/>
            </a:pPr>
            <a:r>
              <a:t>• Only ⑤ is a net-new accuracy lever; must be A/B-tested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