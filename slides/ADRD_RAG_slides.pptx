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3B57"/>
                </a:solidFill>
              </a:defRPr>
            </a:pPr>
            <a:r>
              <a:t>Sufficiency-Aware Corrective RAG for Clinical Caregiving QA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Detect when the local knowledge base is insufficient, then complete the missing knowledge with gap-guided, type-aware retrieval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Generalizable retrieval strategies · frozen generator · free APIs only · no fine-tuning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B57"/>
                </a:solidFill>
              </a:defRPr>
            </a:pPr>
            <a:r>
              <a:t>System Architecture — Best Configuration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Retrieve → judge sufficiency → complete missing knowledge → generate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1521440" cy="5450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406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/>
            </a:pPr>
            <a:r>
              <a:t>• Sufficiency gate (ItV) decides per question: answer now, or complete the missing knowledge</a:t>
            </a:r>
          </a:p>
          <a:p>
            <a:pPr>
              <a:spcAft>
                <a:spcPts val="600"/>
              </a:spcAft>
              <a:defRPr sz="1400" b="0"/>
            </a:pPr>
            <a:r>
              <a:t>• Completion is gap-guided &amp; local-first (free), then corrective web only where it helps (MC)</a:t>
            </a:r>
          </a:p>
          <a:p>
            <a:pPr>
              <a:spcAft>
                <a:spcPts val="600"/>
              </a:spcAft>
              <a:defRPr sz="1400" b="0"/>
            </a:pPr>
            <a:r>
              <a:t>• Generator stays frozen (GPT-4, strict grounding); inference uses only free APIs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B57"/>
                </a:solidFill>
              </a:defRPr>
            </a:pPr>
            <a:r>
              <a:t>What We Did Right — Generalizable Strategies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Design choices that transfer beyond this dataset (not dataset-specific tuning)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B45F06"/>
                </a:solidFill>
              </a:defRPr>
            </a:pPr>
            <a:r>
              <a:t>• Evaluate SUFFICIENCY, not relevance</a:t>
            </a:r>
          </a:p>
          <a:p>
            <a:pPr lvl="1">
              <a:spcAft>
                <a:spcPts val="600"/>
              </a:spcAft>
              <a:defRPr sz="1300" b="0"/>
            </a:pPr>
            <a:r>
              <a:t>    – In a single-domain KB everything is on-topic, so relevance scorers can't tell 'related' from 'answerable'; a generative Identify-then-Verify check can.  → any QA domain</a:t>
            </a:r>
          </a:p>
          <a:p>
            <a:pPr>
              <a:spcAft>
                <a:spcPts val="600"/>
              </a:spcAft>
              <a:defRPr sz="1500" b="1">
                <a:solidFill>
                  <a:srgbClr val="B45F06"/>
                </a:solidFill>
              </a:defRPr>
            </a:pPr>
            <a:r>
              <a:t>• Gap-guided, LOCAL-first completion</a:t>
            </a:r>
          </a:p>
          <a:p>
            <a:pPr lvl="1">
              <a:spcAft>
                <a:spcPts val="600"/>
              </a:spcAft>
              <a:defRPr sz="1300" b="0"/>
            </a:pPr>
            <a:r>
              <a:t>    – Turn the identified gap into a targeted query against the local KB before any web call — recovers buried answers at zero cost.  → any knowledge base</a:t>
            </a:r>
          </a:p>
          <a:p>
            <a:pPr>
              <a:spcAft>
                <a:spcPts val="600"/>
              </a:spcAft>
              <a:defRPr sz="1500" b="1">
                <a:solidFill>
                  <a:srgbClr val="B45F06"/>
                </a:solidFill>
              </a:defRPr>
            </a:pPr>
            <a:r>
              <a:t>• TYPE-AWARE completion routing</a:t>
            </a:r>
          </a:p>
          <a:p>
            <a:pPr lvl="1">
              <a:spcAft>
                <a:spcPts val="600"/>
              </a:spcAft>
              <a:defRPr sz="1300" b="0"/>
            </a:pPr>
            <a:r>
              <a:t>    – External web evidence helps option-selection (MC) but destabilizes binary true/false judgments (TF); fire web only where it helps.  → any verification-vs-selection task</a:t>
            </a:r>
          </a:p>
          <a:p>
            <a:pPr>
              <a:spcAft>
                <a:spcPts val="600"/>
              </a:spcAft>
              <a:defRPr sz="1500" b="1">
                <a:solidFill>
                  <a:srgbClr val="B45F06"/>
                </a:solidFill>
              </a:defRPr>
            </a:pPr>
            <a:r>
              <a:t>• Denoised corrective retrieval</a:t>
            </a:r>
          </a:p>
          <a:p>
            <a:pPr lvl="1">
              <a:spcAft>
                <a:spcPts val="600"/>
              </a:spcAft>
              <a:defRPr sz="1300" b="0"/>
            </a:pPr>
            <a:r>
              <a:t>    – Sentence-level relevance filtering + a local-context floor + a clean-content search backend keep external knowledge from flooding the answer.  → any RAG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B57"/>
                </a:solidFill>
              </a:defRPr>
            </a:pPr>
            <a:r>
              <a:t>From Three Papers to Our Strategy — and the Measured Gain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3291840"/>
                <a:gridCol w="2926080"/>
              </a:tblGrid>
              <a:tr h="10972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Inspiration we took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Our strategy change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Measured effect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ItV — Knowing What's</a:t>
                      </a:r>
                    </a:p>
                    <a:p>
                      <a:pPr>
                        <a:defRPr sz="1200" b="1"/>
                      </a:pPr>
                      <a:r>
                        <a:t>Missing (EACL'26)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Identify-then-Verify</a:t>
                      </a:r>
                    </a:p>
                    <a:p>
                      <a:pPr>
                        <a:defRPr sz="1200" b="0"/>
                      </a:pPr>
                      <a:r>
                        <a:t>sufficiency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Chained detection → gap-query →</a:t>
                      </a:r>
                    </a:p>
                    <a:p>
                      <a:pPr>
                        <a:defRPr sz="1200" b="0"/>
                      </a:pPr>
                      <a:r>
                        <a:t>completion (paper stops at detection)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Sufficiency AUC 0.73 —</a:t>
                      </a:r>
                    </a:p>
                    <a:p>
                      <a:pPr>
                        <a:defRPr sz="1200" b="0"/>
                      </a:pPr>
                      <a:r>
                        <a:t>best of all evaluators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CRAG (2401.15884)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Corrective web retrieval;</a:t>
                      </a:r>
                    </a:p>
                    <a:p>
                      <a:pPr>
                        <a:defRPr sz="1200" b="0"/>
                      </a:pPr>
                      <a:r>
                        <a:t>a trained relevance evaluator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Replaced relevance evaluator with our</a:t>
                      </a:r>
                    </a:p>
                    <a:p>
                      <a:pPr>
                        <a:defRPr sz="1200" b="0"/>
                      </a:pPr>
                      <a:r>
                        <a:t>sufficiency gate; made web type-aware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Their evaluator on our data 0.47</a:t>
                      </a:r>
                    </a:p>
                    <a:p>
                      <a:pPr>
                        <a:defRPr sz="1200" b="0"/>
                      </a:pPr>
                      <a:r>
                        <a:t>→ our gate 0.73; type-aware web +3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MIGRES (2404.14043)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Missing-info → targeted</a:t>
                      </a:r>
                    </a:p>
                    <a:p>
                      <a:pPr>
                        <a:defRPr sz="1200" b="0"/>
                      </a:pPr>
                      <a:r>
                        <a:t>sub-queries; sentence denoising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Local-first before web;</a:t>
                      </a:r>
                    </a:p>
                    <a:p>
                      <a:pPr>
                        <a:defRPr sz="1200" b="0"/>
                      </a:pPr>
                      <a:r>
                        <a:t>type-aware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Gap-local recovers in-KB</a:t>
                      </a:r>
                    </a:p>
                    <a:p>
                      <a:pPr>
                        <a:defRPr sz="1200" b="0"/>
                      </a:pPr>
                      <a:r>
                        <a:t>buried answers, for free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B57"/>
                </a:solidFill>
              </a:defRPr>
            </a:pPr>
            <a:r>
              <a:t>Direct Paper Method vs Our Strategy — and End-to-End Result</a:t>
            </a:r>
          </a:p>
        </p:txBody>
      </p:sp>
      <p:pic>
        <p:nvPicPr>
          <p:cNvPr id="3" name="Picture 2" descr="evaluator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205663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280160"/>
            <a:ext cx="46634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45F06"/>
                </a:solidFill>
              </a:defRPr>
            </a:pPr>
            <a:r>
              <a:t>• Using CRAG's off-the-shelf evaluator directly on our data: AUC 0.47 (below random)</a:t>
            </a:r>
          </a:p>
          <a:p>
            <a:pPr>
              <a:spcAft>
                <a:spcPts val="600"/>
              </a:spcAft>
              <a:defRPr sz="1300" b="1">
                <a:solidFill>
                  <a:srgbClr val="B45F06"/>
                </a:solidFill>
              </a:defRPr>
            </a:pPr>
            <a:r>
              <a:t>• Our ItV-based sufficiency strategy: AUC 0.73</a:t>
            </a:r>
          </a:p>
          <a:p>
            <a:pPr>
              <a:spcAft>
                <a:spcPts val="600"/>
              </a:spcAft>
              <a:defRPr sz="1300" b="0"/>
            </a:pPr>
            <a:r>
              <a:t>• AUC is dataset-agnostic — the gain reflects the STRATEGY, not benchmark tuning</a:t>
            </a:r>
          </a:p>
          <a:p>
            <a:pPr>
              <a:spcAft>
                <a:spcPts val="600"/>
              </a:spcAft>
              <a:defRPr sz="1300" b="0"/>
            </a:pPr>
            <a:r>
              <a:t>• </a:t>
            </a:r>
          </a:p>
          <a:p>
            <a:pPr>
              <a:spcAft>
                <a:spcPts val="600"/>
              </a:spcAft>
              <a:defRPr sz="1300" b="1">
                <a:solidFill>
                  <a:srgbClr val="B45F06"/>
                </a:solidFill>
              </a:defRPr>
            </a:pPr>
            <a:r>
              <a:t>• End-to-end on ADRD-Bench:</a:t>
            </a:r>
          </a:p>
          <a:p>
            <a:pPr lvl="1">
              <a:spcAft>
                <a:spcPts val="600"/>
              </a:spcAft>
              <a:defRPr sz="1100" b="0"/>
            </a:pPr>
            <a:r>
              <a:t>    – 92.6% overall  ·  95.8% on unambiguous items</a:t>
            </a:r>
          </a:p>
          <a:p>
            <a:pPr lvl="1">
              <a:spcAft>
                <a:spcPts val="600"/>
              </a:spcAft>
              <a:defRPr sz="1100" b="0"/>
            </a:pPr>
            <a:r>
              <a:t>    – frozen GPT-4 · free APIs · no fine-tuning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