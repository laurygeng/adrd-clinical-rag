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100" b="1">
                <a:solidFill>
                  <a:srgbClr val="1F3B57"/>
                </a:solidFill>
              </a:rPr>
              <a:t>Multi-Agent RAG — Adversarial Heterogeneous Verification Court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658368"/>
            <a:ext cx="11457432" cy="384048"/>
          </a:xfrm>
          <a:prstGeom prst="roundRect">
            <a:avLst/>
          </a:prstGeom>
          <a:solidFill>
            <a:srgbClr val="F9CB9C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50" b="1">
                <a:solidFill>
                  <a:srgbClr val="000000"/>
                </a:solidFill>
              </a:rPr>
              <a:t>① Orchestrator Agent — coordinates every step via the shared Blackboard (deterministic loop)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1005840" cy="731520"/>
          </a:xfrm>
          <a:prstGeom prst="roundRect">
            <a:avLst/>
          </a:prstGeom>
          <a:solidFill>
            <a:srgbClr val="EFEFE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50" b="1">
                <a:solidFill>
                  <a:srgbClr val="000000"/>
                </a:solidFill>
              </a:rPr>
              <a:t>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54480" y="1371600"/>
            <a:ext cx="1645920" cy="731520"/>
          </a:xfrm>
          <a:prstGeom prst="roundRect">
            <a:avLst/>
          </a:prstGeom>
          <a:solidFill>
            <a:srgbClr val="CFE2F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50" b="1">
                <a:solidFill>
                  <a:srgbClr val="000000"/>
                </a:solidFill>
              </a:rPr>
              <a:t>② Query Agent</a:t>
            </a:r>
          </a:p>
          <a:p>
            <a:pPr algn="ctr"/>
            <a:r>
              <a:rPr sz="800" b="0">
                <a:solidFill>
                  <a:srgbClr val="000000"/>
                </a:solidFill>
              </a:rPr>
              <a:t>rewrite + pro/con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83280" y="1371600"/>
            <a:ext cx="1828800" cy="731520"/>
          </a:xfrm>
          <a:prstGeom prst="roundRect">
            <a:avLst/>
          </a:prstGeom>
          <a:solidFill>
            <a:srgbClr val="CFE2F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50" b="1">
                <a:solidFill>
                  <a:srgbClr val="000000"/>
                </a:solidFill>
              </a:rPr>
              <a:t>③ Retrieval Team</a:t>
            </a:r>
          </a:p>
          <a:p>
            <a:pPr algn="ctr"/>
            <a:r>
              <a:rPr sz="800" b="0">
                <a:solidFill>
                  <a:srgbClr val="000000"/>
                </a:solidFill>
              </a:rPr>
              <a:t>BM25+dense · rerank · noise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94960" y="1371600"/>
            <a:ext cx="1920240" cy="731520"/>
          </a:xfrm>
          <a:prstGeom prst="roundRect">
            <a:avLst/>
          </a:prstGeom>
          <a:solidFill>
            <a:srgbClr val="FCE5CD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50" b="1">
                <a:solidFill>
                  <a:srgbClr val="000000"/>
                </a:solidFill>
              </a:rPr>
              <a:t>④ Sufficiency (ItV)</a:t>
            </a:r>
          </a:p>
          <a:p>
            <a:pPr algn="ctr"/>
            <a:r>
              <a:rPr sz="800" b="0">
                <a:solidFill>
                  <a:srgbClr val="000000"/>
                </a:solidFill>
              </a:rPr>
              <a:t>5×Identify + Verify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2377440"/>
            <a:ext cx="1920240" cy="640080"/>
          </a:xfrm>
          <a:prstGeom prst="roundRect">
            <a:avLst/>
          </a:prstGeom>
          <a:solidFill>
            <a:srgbClr val="D9EAD3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000000"/>
                </a:solidFill>
              </a:rPr>
              <a:t>⑤ Local-Completion</a:t>
            </a:r>
          </a:p>
          <a:p>
            <a:pPr algn="ctr"/>
            <a:r>
              <a:rPr sz="750" b="0">
                <a:solidFill>
                  <a:srgbClr val="000000"/>
                </a:solidFill>
              </a:rPr>
              <a:t>gap-local re-search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71600" y="1737360"/>
            <a:ext cx="18288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0" y="1737360"/>
            <a:ext cx="18288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212080" y="1737360"/>
            <a:ext cx="18288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355080" y="2103120"/>
            <a:ext cx="0" cy="27432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46520" y="21488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B45F06"/>
                </a:solidFill>
              </a:rPr>
              <a:t>insufficient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3611880"/>
            <a:ext cx="2651760" cy="914400"/>
          </a:xfrm>
          <a:prstGeom prst="roundRect">
            <a:avLst/>
          </a:prstGeom>
          <a:solidFill>
            <a:srgbClr val="D9D2E9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000000"/>
                </a:solidFill>
              </a:rPr>
              <a:t>⑥ Adversarial Web-Research</a:t>
            </a:r>
          </a:p>
          <a:p>
            <a:pPr algn="ctr"/>
            <a:r>
              <a:rPr sz="750" b="0">
                <a:solidFill>
                  <a:srgbClr val="000000"/>
                </a:solidFill>
              </a:rPr>
              <a:t>Seek_Support (pro) + Seek_Refute (con)</a:t>
            </a:r>
          </a:p>
          <a:p>
            <a:pPr algn="ctr"/>
            <a:r>
              <a:rPr sz="750" b="0">
                <a:solidFill>
                  <a:srgbClr val="000000"/>
                </a:solidFill>
              </a:rPr>
              <a:t>Exa (clean web) + Europe PMC (medical)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3383280"/>
            <a:ext cx="3977639" cy="1874519"/>
          </a:xfrm>
          <a:prstGeom prst="roundRect">
            <a:avLst/>
          </a:prstGeom>
          <a:solidFill>
            <a:srgbClr val="FFF7DD"/>
          </a:solidFill>
          <a:ln w="20320">
            <a:solidFill>
              <a:srgbClr val="B45F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0">
                <a:solidFill>
                  <a:srgbClr val="000000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410712"/>
            <a:ext cx="3977639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B45F06"/>
                </a:solidFill>
              </a:rPr>
              <a:t>⑦ Heterogeneous Verification Court (TF only)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3280" y="3685032"/>
            <a:ext cx="3703320" cy="365760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830" b="0">
                <a:solidFill>
                  <a:srgbClr val="000000"/>
                </a:solidFill>
              </a:rPr>
              <a:t>Entity Judge — ontology boundary · single call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4078224"/>
            <a:ext cx="3703320" cy="365760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830" b="0">
                <a:solidFill>
                  <a:srgbClr val="000000"/>
                </a:solidFill>
              </a:rPr>
              <a:t>Modal Judge — must/make vs helps/may · few-shot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4471416"/>
            <a:ext cx="3703320" cy="420624"/>
          </a:xfrm>
          <a:prstGeom prst="roundRect">
            <a:avLst/>
          </a:prstGeom>
          <a:solidFill>
            <a:srgbClr val="FFD966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830" b="0">
                <a:solidFill>
                  <a:srgbClr val="000000"/>
                </a:solidFill>
              </a:rPr>
              <a:t>Fact Judge — 3-vote self-consistency + ontology rule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3280" y="4919472"/>
            <a:ext cx="3703320" cy="274320"/>
          </a:xfrm>
          <a:prstGeom prst="roundRect">
            <a:avLst/>
          </a:prstGeom>
          <a:solidFill>
            <a:srgbClr val="F4B8B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800" b="1">
                <a:solidFill>
                  <a:srgbClr val="000000"/>
                </a:solidFill>
              </a:rPr>
              <a:t>Arbiter — VETO: any red flag → INSUFFICIENT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89520" y="3611880"/>
            <a:ext cx="1874519" cy="1920240"/>
          </a:xfrm>
          <a:prstGeom prst="roundRect">
            <a:avLst/>
          </a:prstGeom>
          <a:solidFill>
            <a:srgbClr val="B6D7A8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50" b="1">
                <a:solidFill>
                  <a:srgbClr val="000000"/>
                </a:solidFill>
              </a:rPr>
              <a:t>⑧ Answer Agent</a:t>
            </a:r>
          </a:p>
          <a:p>
            <a:pPr algn="ctr"/>
            <a:r>
              <a:rPr sz="800" b="0">
                <a:solidFill>
                  <a:srgbClr val="000000"/>
                </a:solidFill>
              </a:rPr>
              <a:t>GPT-4</a:t>
            </a:r>
          </a:p>
          <a:p>
            <a:pPr algn="ctr"/>
            <a:r>
              <a:rPr sz="800" b="0">
                <a:solidFill>
                  <a:srgbClr val="000000"/>
                </a:solidFill>
              </a:rPr>
              <a:t>(frozen, grounded)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4206240"/>
            <a:ext cx="1371600" cy="731520"/>
          </a:xfrm>
          <a:prstGeom prst="roundRect">
            <a:avLst/>
          </a:prstGeom>
          <a:solidFill>
            <a:srgbClr val="EFEFE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1000" b="1">
                <a:solidFill>
                  <a:srgbClr val="000000"/>
                </a:solidFill>
              </a:rPr>
              <a:t>Final Answer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2011680" y="3017520"/>
            <a:ext cx="3474720" cy="594360"/>
          </a:xfrm>
          <a:prstGeom prst="line">
            <a:avLst/>
          </a:prstGeom>
          <a:ln w="19050">
            <a:solidFill>
              <a:srgbClr val="674EA7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926080" y="30632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674EA7"/>
                </a:solidFill>
              </a:rPr>
              <a:t>external retrieval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017520" y="4069080"/>
            <a:ext cx="2286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223760" y="4206240"/>
            <a:ext cx="365760" cy="0"/>
          </a:xfrm>
          <a:prstGeom prst="line">
            <a:avLst/>
          </a:prstGeom>
          <a:ln w="19050">
            <a:solidFill>
              <a:srgbClr val="3876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00" y="391363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38761D"/>
                </a:solidFill>
              </a:rPr>
              <a:t>TF: override/keep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691640" y="4526280"/>
            <a:ext cx="0" cy="914400"/>
          </a:xfrm>
          <a:prstGeom prst="line">
            <a:avLst/>
          </a:prstGeom>
          <a:ln w="19050">
            <a:solidFill>
              <a:srgbClr val="B45F0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691640" y="5440680"/>
            <a:ext cx="5897880" cy="0"/>
          </a:xfrm>
          <a:prstGeom prst="line">
            <a:avLst/>
          </a:prstGeom>
          <a:ln w="19050">
            <a:solidFill>
              <a:srgbClr val="B45F06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840480" y="5230368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B45F06"/>
                </a:solidFill>
              </a:rPr>
              <a:t>MC: bypass court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315200" y="1737360"/>
            <a:ext cx="1188720" cy="0"/>
          </a:xfrm>
          <a:prstGeom prst="line">
            <a:avLst/>
          </a:prstGeom>
          <a:ln w="19050">
            <a:solidFill>
              <a:srgbClr val="38761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503920" y="1737360"/>
            <a:ext cx="0" cy="1874520"/>
          </a:xfrm>
          <a:prstGeom prst="line">
            <a:avLst/>
          </a:prstGeom>
          <a:ln w="19050">
            <a:solidFill>
              <a:srgbClr val="38761D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635240" y="1481328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38761D"/>
                </a:solidFill>
              </a:rPr>
              <a:t>sufficient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464040" y="4572000"/>
            <a:ext cx="228600" cy="0"/>
          </a:xfrm>
          <a:prstGeom prst="line">
            <a:avLst/>
          </a:prstGeom>
          <a:ln w="19050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365760" y="5806440"/>
            <a:ext cx="11457432" cy="548640"/>
          </a:xfrm>
          <a:prstGeom prst="roundRect">
            <a:avLst/>
          </a:prstGeom>
          <a:solidFill>
            <a:srgbClr val="E2E2E2"/>
          </a:solidFill>
          <a:ln w="17780">
            <a:solidFill>
              <a:srgbClr val="1F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12700" bIns="12700"/>
          <a:lstStyle/>
          <a:p>
            <a:pPr algn="ctr"/>
            <a:r>
              <a:rPr sz="900" b="1">
                <a:solidFill>
                  <a:srgbClr val="000000"/>
                </a:solidFill>
              </a:rPr>
              <a:t>Shared Blackboard   question · queries · evidence{local, web_pro, web_con} · baseline_confidence · judge_flags{entity, modal, fact} · final_decision · trace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377440" y="5623560"/>
            <a:ext cx="0" cy="182880"/>
          </a:xfrm>
          <a:prstGeom prst="line">
            <a:avLst/>
          </a:prstGeom>
          <a:ln w="12700">
            <a:solidFill>
              <a:srgbClr val="8888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2377440" y="5623560"/>
            <a:ext cx="0" cy="182880"/>
          </a:xfrm>
          <a:prstGeom prst="line">
            <a:avLst/>
          </a:prstGeom>
          <a:ln w="12700">
            <a:solidFill>
              <a:srgbClr val="8888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400800" y="5623560"/>
            <a:ext cx="0" cy="182880"/>
          </a:xfrm>
          <a:prstGeom prst="line">
            <a:avLst/>
          </a:prstGeom>
          <a:ln w="12700">
            <a:solidFill>
              <a:srgbClr val="8888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400800" y="5623560"/>
            <a:ext cx="0" cy="182880"/>
          </a:xfrm>
          <a:prstGeom prst="line">
            <a:avLst/>
          </a:prstGeom>
          <a:ln w="12700">
            <a:solidFill>
              <a:srgbClr val="8888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503920" y="5623560"/>
            <a:ext cx="0" cy="182880"/>
          </a:xfrm>
          <a:prstGeom prst="line">
            <a:avLst/>
          </a:prstGeom>
          <a:ln w="12700">
            <a:solidFill>
              <a:srgbClr val="8888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503920" y="5623560"/>
            <a:ext cx="0" cy="182880"/>
          </a:xfrm>
          <a:prstGeom prst="line">
            <a:avLst/>
          </a:prstGeom>
          <a:ln w="12700">
            <a:solidFill>
              <a:srgbClr val="88888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57200" y="557784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888888"/>
                </a:solidFill>
              </a:rPr>
              <a:t>every agent reads / writes 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