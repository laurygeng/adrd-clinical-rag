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09728"/>
            <a:ext cx="114300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1F3B57"/>
                </a:solidFill>
              </a:rPr>
              <a:t>Multi-Agent RAG — Adversarial Heterogeneous Verification Court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5760" y="685800"/>
            <a:ext cx="11457432" cy="411480"/>
          </a:xfrm>
          <a:prstGeom prst="roundRect">
            <a:avLst/>
          </a:prstGeom>
          <a:solidFill>
            <a:srgbClr val="F9CB9C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/>
          <a:lstStyle/>
          <a:p>
            <a:pPr algn="ctr"/>
            <a:r>
              <a:rPr sz="1000" b="1">
                <a:solidFill>
                  <a:srgbClr val="000000"/>
                </a:solidFill>
              </a:rPr>
              <a:t>① Orchestrator Agent — coordinates every step via the shared Blackboard (deterministic loop; no framework)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1417320"/>
            <a:ext cx="1051560" cy="777240"/>
          </a:xfrm>
          <a:prstGeom prst="roundRect">
            <a:avLst/>
          </a:prstGeom>
          <a:solidFill>
            <a:srgbClr val="EFEFE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/>
          <a:lstStyle/>
          <a:p>
            <a:pPr algn="ctr"/>
            <a:r>
              <a:rPr sz="1000" b="1">
                <a:solidFill>
                  <a:srgbClr val="000000"/>
                </a:solidFill>
              </a:rPr>
              <a:t>Question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600200" y="1417320"/>
            <a:ext cx="1691640" cy="777240"/>
          </a:xfrm>
          <a:prstGeom prst="roundRect">
            <a:avLst/>
          </a:prstGeom>
          <a:solidFill>
            <a:srgbClr val="CFE2F3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/>
          <a:lstStyle/>
          <a:p>
            <a:pPr algn="ctr"/>
            <a:r>
              <a:rPr sz="950" b="1">
                <a:solidFill>
                  <a:srgbClr val="000000"/>
                </a:solidFill>
              </a:rPr>
              <a:t>② Query Agent</a:t>
            </a:r>
          </a:p>
          <a:p>
            <a:pPr algn="ctr"/>
            <a:r>
              <a:rPr sz="800" b="0">
                <a:solidFill>
                  <a:srgbClr val="000000"/>
                </a:solidFill>
              </a:rPr>
              <a:t>rewrite + pro/con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0" y="1417320"/>
            <a:ext cx="1965960" cy="777240"/>
          </a:xfrm>
          <a:prstGeom prst="roundRect">
            <a:avLst/>
          </a:prstGeom>
          <a:solidFill>
            <a:srgbClr val="CFE2F3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/>
          <a:lstStyle/>
          <a:p>
            <a:pPr algn="ctr"/>
            <a:r>
              <a:rPr sz="950" b="1">
                <a:solidFill>
                  <a:srgbClr val="000000"/>
                </a:solidFill>
              </a:rPr>
              <a:t>③ Retrieval Team</a:t>
            </a:r>
          </a:p>
          <a:p>
            <a:pPr algn="ctr"/>
            <a:r>
              <a:rPr sz="800" b="0">
                <a:solidFill>
                  <a:srgbClr val="000000"/>
                </a:solidFill>
              </a:rPr>
              <a:t>BM25+dense · rerank · noise-filter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23560" y="1417320"/>
            <a:ext cx="1965960" cy="777240"/>
          </a:xfrm>
          <a:prstGeom prst="roundRect">
            <a:avLst/>
          </a:prstGeom>
          <a:solidFill>
            <a:srgbClr val="FCE5CD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/>
          <a:lstStyle/>
          <a:p>
            <a:pPr algn="ctr"/>
            <a:r>
              <a:rPr sz="950" b="1">
                <a:solidFill>
                  <a:srgbClr val="000000"/>
                </a:solidFill>
              </a:rPr>
              <a:t>④ Sufficiency Panel (ItV)</a:t>
            </a:r>
          </a:p>
          <a:p>
            <a:pPr algn="ctr"/>
            <a:r>
              <a:rPr sz="800" b="0">
                <a:solidFill>
                  <a:srgbClr val="000000"/>
                </a:solidFill>
              </a:rPr>
              <a:t>5×Identify + Verify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23560" y="2468880"/>
            <a:ext cx="1965960" cy="640080"/>
          </a:xfrm>
          <a:prstGeom prst="roundRect">
            <a:avLst/>
          </a:prstGeom>
          <a:solidFill>
            <a:srgbClr val="D9EAD3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/>
          <a:lstStyle/>
          <a:p>
            <a:pPr algn="ctr"/>
            <a:r>
              <a:rPr sz="900" b="0">
                <a:solidFill>
                  <a:srgbClr val="000000"/>
                </a:solidFill>
              </a:rPr>
              <a:t>⑤ Local-Completion</a:t>
            </a:r>
          </a:p>
          <a:p>
            <a:pPr algn="ctr"/>
            <a:r>
              <a:rPr sz="750" b="0">
                <a:solidFill>
                  <a:srgbClr val="000000"/>
                </a:solidFill>
              </a:rPr>
              <a:t>gap-local re-search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417320" y="1801368"/>
            <a:ext cx="182880" cy="0"/>
          </a:xfrm>
          <a:prstGeom prst="line">
            <a:avLst/>
          </a:prstGeom>
          <a:ln w="19050">
            <a:solidFill>
              <a:srgbClr val="33333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3291840" y="1801368"/>
            <a:ext cx="182880" cy="0"/>
          </a:xfrm>
          <a:prstGeom prst="line">
            <a:avLst/>
          </a:prstGeom>
          <a:ln w="19050">
            <a:solidFill>
              <a:srgbClr val="33333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5440680" y="1801368"/>
            <a:ext cx="182880" cy="0"/>
          </a:xfrm>
          <a:prstGeom prst="line">
            <a:avLst/>
          </a:prstGeom>
          <a:ln w="19050">
            <a:solidFill>
              <a:srgbClr val="33333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6601968" y="2194560"/>
            <a:ext cx="0" cy="274320"/>
          </a:xfrm>
          <a:prstGeom prst="line">
            <a:avLst/>
          </a:prstGeom>
          <a:ln w="19050">
            <a:solidFill>
              <a:srgbClr val="33333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675120" y="2212848"/>
            <a:ext cx="2011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i="1">
                <a:solidFill>
                  <a:srgbClr val="B45F06"/>
                </a:solidFill>
              </a:rPr>
              <a:t>insufficient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65760" y="3611880"/>
            <a:ext cx="2514600" cy="1371600"/>
          </a:xfrm>
          <a:prstGeom prst="roundRect">
            <a:avLst/>
          </a:prstGeom>
          <a:solidFill>
            <a:srgbClr val="D9D2E9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/>
          <a:lstStyle/>
          <a:p>
            <a:pPr algn="ctr"/>
            <a:r>
              <a:rPr sz="950" b="1">
                <a:solidFill>
                  <a:srgbClr val="000000"/>
                </a:solidFill>
              </a:rPr>
              <a:t>⑥ Adversarial Web-Research</a:t>
            </a:r>
          </a:p>
          <a:p>
            <a:pPr algn="ctr"/>
            <a:r>
              <a:rPr sz="800" b="0">
                <a:solidFill>
                  <a:srgbClr val="000000"/>
                </a:solidFill>
              </a:rPr>
              <a:t>Seek_Support (pro) + Seek_Refute (con)</a:t>
            </a:r>
          </a:p>
          <a:p>
            <a:pPr algn="ctr"/>
            <a:r>
              <a:rPr sz="800" b="0">
                <a:solidFill>
                  <a:srgbClr val="000000"/>
                </a:solidFill>
              </a:rPr>
              <a:t>Exa (clean web) + Europe PMC (medical)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108960" y="3383280"/>
            <a:ext cx="4160520" cy="1965960"/>
          </a:xfrm>
          <a:prstGeom prst="roundRect">
            <a:avLst/>
          </a:prstGeom>
          <a:solidFill>
            <a:srgbClr val="FFF7DD"/>
          </a:solidFill>
          <a:ln w="20320">
            <a:solidFill>
              <a:srgbClr val="B45F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/>
          <a:lstStyle/>
          <a:p>
            <a:pPr algn="ctr"/>
            <a:r>
              <a:rPr sz="900" b="0">
                <a:solidFill>
                  <a:srgbClr val="000000"/>
                </a:solidFill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08960" y="3419856"/>
            <a:ext cx="4160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B45F06"/>
                </a:solidFill>
              </a:rPr>
              <a:t>⑦ Heterogeneous Verification Court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46120" y="3749039"/>
            <a:ext cx="3886200" cy="411480"/>
          </a:xfrm>
          <a:prstGeom prst="roundRect">
            <a:avLst/>
          </a:prstGeom>
          <a:solidFill>
            <a:srgbClr val="FFD966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/>
          <a:lstStyle/>
          <a:p>
            <a:pPr algn="ctr"/>
            <a:r>
              <a:rPr sz="850" b="0">
                <a:solidFill>
                  <a:srgbClr val="000000"/>
                </a:solidFill>
              </a:rPr>
              <a:t>Entity Judge — ontology boundary (class ⊃ subtype) · single call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46120" y="4206240"/>
            <a:ext cx="3886200" cy="411480"/>
          </a:xfrm>
          <a:prstGeom prst="roundRect">
            <a:avLst/>
          </a:prstGeom>
          <a:solidFill>
            <a:srgbClr val="FFD966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/>
          <a:lstStyle/>
          <a:p>
            <a:pPr algn="ctr"/>
            <a:r>
              <a:rPr sz="850" b="0">
                <a:solidFill>
                  <a:srgbClr val="000000"/>
                </a:solidFill>
              </a:rPr>
              <a:t>Modal Judge — 'must/make' vs 'helps/may' · few-shot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246120" y="4663440"/>
            <a:ext cx="3886200" cy="457200"/>
          </a:xfrm>
          <a:prstGeom prst="roundRect">
            <a:avLst/>
          </a:prstGeom>
          <a:solidFill>
            <a:srgbClr val="FFD966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/>
          <a:lstStyle/>
          <a:p>
            <a:pPr algn="ctr"/>
            <a:r>
              <a:rPr sz="850" b="0">
                <a:solidFill>
                  <a:srgbClr val="000000"/>
                </a:solidFill>
              </a:rPr>
              <a:t>Fact Judge — 3-vote self-consistency</a:t>
            </a:r>
          </a:p>
          <a:p>
            <a:pPr algn="ctr"/>
            <a:r>
              <a:rPr sz="700" b="0">
                <a:solidFill>
                  <a:srgbClr val="000000"/>
                </a:solidFill>
              </a:rPr>
              <a:t>+ medical-ontology rule (syndrome/disease/disorder)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46120" y="5148072"/>
            <a:ext cx="3886200" cy="292608"/>
          </a:xfrm>
          <a:prstGeom prst="roundRect">
            <a:avLst/>
          </a:prstGeom>
          <a:solidFill>
            <a:srgbClr val="F4B8B8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/>
          <a:lstStyle/>
          <a:p>
            <a:pPr algn="ctr"/>
            <a:r>
              <a:rPr sz="800" b="1">
                <a:solidFill>
                  <a:srgbClr val="000000"/>
                </a:solidFill>
              </a:rPr>
              <a:t>Arbiter — VETO: any red flag → INSUFFICIENT (keep baseline)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589520" y="3794760"/>
            <a:ext cx="1828800" cy="914400"/>
          </a:xfrm>
          <a:prstGeom prst="roundRect">
            <a:avLst/>
          </a:prstGeom>
          <a:solidFill>
            <a:srgbClr val="B6D7A8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/>
          <a:lstStyle/>
          <a:p>
            <a:pPr algn="ctr"/>
            <a:r>
              <a:rPr sz="950" b="1">
                <a:solidFill>
                  <a:srgbClr val="000000"/>
                </a:solidFill>
              </a:rPr>
              <a:t>⑧ Answer Agent</a:t>
            </a:r>
          </a:p>
          <a:p>
            <a:pPr algn="ctr"/>
            <a:r>
              <a:rPr sz="800" b="0">
                <a:solidFill>
                  <a:srgbClr val="000000"/>
                </a:solidFill>
              </a:rPr>
              <a:t>GPT-4 (frozen, grounded)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692640" y="3886200"/>
            <a:ext cx="1371600" cy="731520"/>
          </a:xfrm>
          <a:prstGeom prst="roundRect">
            <a:avLst/>
          </a:prstGeom>
          <a:solidFill>
            <a:srgbClr val="EFEFE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/>
          <a:lstStyle/>
          <a:p>
            <a:pPr algn="ctr"/>
            <a:r>
              <a:rPr sz="1000" b="1">
                <a:solidFill>
                  <a:srgbClr val="000000"/>
                </a:solidFill>
              </a:rPr>
              <a:t>Final Answer</a:t>
            </a:r>
          </a:p>
        </p:txBody>
      </p:sp>
      <p:cxnSp>
        <p:nvCxnSpPr>
          <p:cNvPr id="23" name="Connector 22"/>
          <p:cNvCxnSpPr/>
          <p:nvPr/>
        </p:nvCxnSpPr>
        <p:spPr>
          <a:xfrm flipH="1">
            <a:off x="2743200" y="2788920"/>
            <a:ext cx="2880360" cy="822960"/>
          </a:xfrm>
          <a:prstGeom prst="line">
            <a:avLst/>
          </a:prstGeom>
          <a:ln w="19050">
            <a:solidFill>
              <a:srgbClr val="33333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3657600" y="3063240"/>
            <a:ext cx="2011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i="1">
                <a:solidFill>
                  <a:srgbClr val="674EA7"/>
                </a:solidFill>
              </a:rPr>
              <a:t>TF: verify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2880360" y="4297680"/>
            <a:ext cx="228600" cy="0"/>
          </a:xfrm>
          <a:prstGeom prst="line">
            <a:avLst/>
          </a:prstGeom>
          <a:ln w="19050">
            <a:solidFill>
              <a:srgbClr val="33333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V="1">
            <a:off x="7269480" y="4251960"/>
            <a:ext cx="320040" cy="182880"/>
          </a:xfrm>
          <a:prstGeom prst="line">
            <a:avLst/>
          </a:prstGeom>
          <a:ln w="19050">
            <a:solidFill>
              <a:srgbClr val="33333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6903720" y="4023360"/>
            <a:ext cx="2011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i="1">
                <a:solidFill>
                  <a:srgbClr val="38761D"/>
                </a:solidFill>
              </a:rPr>
              <a:t>override / keep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9418320" y="4251960"/>
            <a:ext cx="274320" cy="0"/>
          </a:xfrm>
          <a:prstGeom prst="line">
            <a:avLst/>
          </a:prstGeom>
          <a:ln w="19050">
            <a:solidFill>
              <a:srgbClr val="33333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7571231" y="1801368"/>
            <a:ext cx="932689" cy="0"/>
          </a:xfrm>
          <a:prstGeom prst="line">
            <a:avLst/>
          </a:prstGeom>
          <a:ln w="19050">
            <a:solidFill>
              <a:srgbClr val="33333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8503920" y="1801368"/>
            <a:ext cx="0" cy="1993392"/>
          </a:xfrm>
          <a:prstGeom prst="line">
            <a:avLst/>
          </a:prstGeom>
          <a:ln w="19050">
            <a:solidFill>
              <a:srgbClr val="33333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7635240" y="1463040"/>
            <a:ext cx="2011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i="1">
                <a:solidFill>
                  <a:srgbClr val="38761D"/>
                </a:solidFill>
              </a:rPr>
              <a:t>sufficient / MC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65760" y="5715000"/>
            <a:ext cx="11457432" cy="566928"/>
          </a:xfrm>
          <a:prstGeom prst="roundRect">
            <a:avLst/>
          </a:prstGeom>
          <a:solidFill>
            <a:srgbClr val="E2E2E2"/>
          </a:solidFill>
          <a:ln w="17780">
            <a:solidFill>
              <a:srgbClr val="1F3B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/>
          <a:lstStyle/>
          <a:p>
            <a:pPr algn="ctr"/>
            <a:r>
              <a:rPr sz="950" b="1">
                <a:solidFill>
                  <a:srgbClr val="000000"/>
                </a:solidFill>
              </a:rPr>
              <a:t>Shared Blackboard    question · queries · evidence{local, web_pro, web_con} · baseline_confidence · judge_flags{entity, modal, fact} · final_decision · trace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2377440" y="5532120"/>
            <a:ext cx="0" cy="182880"/>
          </a:xfrm>
          <a:prstGeom prst="line">
            <a:avLst/>
          </a:prstGeom>
          <a:ln w="12700">
            <a:prstDash val="dash"/>
            <a:solidFill>
              <a:srgbClr val="8888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 flipV="1">
            <a:off x="2377440" y="5532120"/>
            <a:ext cx="0" cy="182880"/>
          </a:xfrm>
          <a:prstGeom prst="line">
            <a:avLst/>
          </a:prstGeom>
          <a:ln w="12700">
            <a:prstDash val="dash"/>
            <a:solidFill>
              <a:srgbClr val="8888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6400800" y="5532120"/>
            <a:ext cx="0" cy="182880"/>
          </a:xfrm>
          <a:prstGeom prst="line">
            <a:avLst/>
          </a:prstGeom>
          <a:ln w="12700">
            <a:prstDash val="dash"/>
            <a:solidFill>
              <a:srgbClr val="8888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6400800" y="5532120"/>
            <a:ext cx="0" cy="182880"/>
          </a:xfrm>
          <a:prstGeom prst="line">
            <a:avLst/>
          </a:prstGeom>
          <a:ln w="12700">
            <a:prstDash val="dash"/>
            <a:solidFill>
              <a:srgbClr val="8888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8503920" y="5532120"/>
            <a:ext cx="0" cy="182880"/>
          </a:xfrm>
          <a:prstGeom prst="line">
            <a:avLst/>
          </a:prstGeom>
          <a:ln w="12700">
            <a:prstDash val="dash"/>
            <a:solidFill>
              <a:srgbClr val="8888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8503920" y="5532120"/>
            <a:ext cx="0" cy="182880"/>
          </a:xfrm>
          <a:prstGeom prst="line">
            <a:avLst/>
          </a:prstGeom>
          <a:ln w="12700">
            <a:prstDash val="dash"/>
            <a:solidFill>
              <a:srgbClr val="8888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457200" y="5468112"/>
            <a:ext cx="2011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i="1">
                <a:solidFill>
                  <a:srgbClr val="888888"/>
                </a:solidFill>
              </a:rPr>
              <a:t>every agent reads / writes ↕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